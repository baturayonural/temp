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y="5143500" cx="9144000"/>
  <p:notesSz cx="6858000" cy="9144000"/>
  <p:embeddedFontLst>
    <p:embeddedFont>
      <p:font typeface="Old Standard TT"/>
      <p:regular r:id="rId76"/>
      <p:bold r:id="rId77"/>
      <p: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font" Target="fonts/OldStandardTT-bold.fntdata"/><Relationship Id="rId32" Type="http://schemas.openxmlformats.org/officeDocument/2006/relationships/slide" Target="slides/slide27.xml"/><Relationship Id="rId76" Type="http://schemas.openxmlformats.org/officeDocument/2006/relationships/font" Target="fonts/OldStandardTT-regular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schemas.openxmlformats.org/officeDocument/2006/relationships/font" Target="fonts/OldStandardTT-italic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c9180f557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c9180f5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f1bf2a611_0_3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f1bf2a611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f1bf2a611_0_3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f1bf2a61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f1bf2a611_0_3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f1bf2a611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f1bf2a611_0_3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f1bf2a611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f1bf2a611_0_3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f1bf2a611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f1bf2a611_0_3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f1bf2a611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f1bf2a611_0_6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f1bf2a611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f1bf2a611_0_6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f1bf2a611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8f1bf2a611_0_6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8f1bf2a611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f1bf2a611_0_6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f1bf2a611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f1bf2a611_0_3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f1bf2a611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f1bf2a611_0_3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f1bf2a611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f1bf2a611_0_3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f1bf2a611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f1bf2a611_0_3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f1bf2a61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f1bf2a611_0_4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f1bf2a611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8f1bf2a611_0_3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8f1bf2a611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f1bf2a611_0_4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f1bf2a611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8f1bf2a611_0_3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8f1bf2a611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f1bf2a611_0_4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f1bf2a611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8f1bf2a611_0_4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8f1bf2a611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f1bf2a611_0_4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f1bf2a611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f1bf2a611_0_4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f1bf2a611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8f1bf2a611_0_7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8f1bf2a611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8f1bf2a611_0_7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8f1bf2a611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8f1bf2a611_0_7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8f1bf2a611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2c9180f557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2c9180f55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c9180f557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2c9180f5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2c9180f557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2c9180f55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2c9180f557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2c9180f55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2c9180f557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2c9180f55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2c9180f557_0_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2c9180f55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2c9180f557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2c9180f5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8f1bf2a611_0_4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8f1bf2a611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f1bf2a611_0_4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f1bf2a611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8f1bf2a611_0_5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8f1bf2a611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8f1bf2a611_0_5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8f1bf2a611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8f1bf2a611_0_6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8f1bf2a611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f1bf2a611_0_6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8f1bf2a611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8f1bf2a611_0_6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8f1bf2a611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f1bf2a611_0_6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f1bf2a611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8f1bf2a611_0_5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8f1bf2a611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f1bf2a611_0_6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f1bf2a611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8f1bf2a611_0_6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8f1bf2a611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8f1bf2a611_0_7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8f1bf2a611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8f1bf2a611_0_7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8f1bf2a611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8f1bf2a611_0_7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8f1bf2a611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8f1bf2a611_0_7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8f1bf2a611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8f1bf2a611_0_7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8f1bf2a611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8f1bf2a611_0_5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8f1bf2a611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f1bf2a611_0_7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f1bf2a611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8f1bf2a611_0_7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8f1bf2a611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8f1bf2a611_0_7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8f1bf2a611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8f1bf2a611_0_8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8f1bf2a611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8f1bf2a611_0_8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8f1bf2a611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8f1bf2a611_0_8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8f1bf2a611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8f1bf2a611_0_8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8f1bf2a611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8f1bf2a611_0_8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8f1bf2a611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8f1bf2a611_0_8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8f1bf2a611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8f1bf2a611_0_8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8f1bf2a611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8f1bf2a611_0_8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8f1bf2a611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8f1bf2a611_0_8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8f1bf2a611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8f1bf2a611_0_9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8f1bf2a611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8f1bf2a611_0_9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8f1bf2a611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8f1bf2a611_0_8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8f1bf2a611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8f1bf2a611_0_9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8f1bf2a611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8f1bf2a611_0_9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8f1bf2a611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8f1bf2a611_0_8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8f1bf2a611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02050" y="1893300"/>
            <a:ext cx="8118600" cy="83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Özkütle Deneyi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47650" y="1943350"/>
            <a:ext cx="27855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rgbClr val="000000"/>
                </a:solidFill>
              </a:rPr>
              <a:t>Erhan Baturay Onural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</a:rPr>
              <a:t>TOBB ETU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33625" y="370575"/>
            <a:ext cx="81156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300">
                <a:solidFill>
                  <a:srgbClr val="FFFBF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Demonstrating Reduced-Voltage FPGA-Based Neural Network Acceleration for Power-Efficiency</a:t>
            </a:r>
            <a:endParaRPr sz="2300">
              <a:solidFill>
                <a:srgbClr val="FFFBF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508750" y="1943350"/>
            <a:ext cx="25908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rgbClr val="000000"/>
                </a:solidFill>
              </a:rPr>
              <a:t>Ismail Emir Yuksel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500">
                <a:solidFill>
                  <a:schemeClr val="dk1"/>
                </a:solidFill>
              </a:rPr>
              <a:t>TOBB ETU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6363075" y="1943350"/>
            <a:ext cx="21240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rgbClr val="000000"/>
                </a:solidFill>
              </a:rPr>
              <a:t>Behzad Salami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500">
                <a:solidFill>
                  <a:schemeClr val="dk1"/>
                </a:solidFill>
              </a:rPr>
              <a:t>BSC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88" y="2850100"/>
            <a:ext cx="2093251" cy="147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3888" y="3358725"/>
            <a:ext cx="1731100" cy="4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355750" y="4713650"/>
            <a:ext cx="85380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30th International Conference on Field-Programmable Logic and Applications (FPL), 2</a:t>
            </a:r>
            <a:r>
              <a:rPr baseline="30000" lang="tr">
                <a:latin typeface="Old Standard TT"/>
                <a:ea typeface="Old Standard TT"/>
                <a:cs typeface="Old Standard TT"/>
                <a:sym typeface="Old Standard TT"/>
              </a:rPr>
              <a:t>nd </a:t>
            </a: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September</a:t>
            </a:r>
            <a:r>
              <a:rPr b="1" lang="tr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2020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5400" y="3278875"/>
            <a:ext cx="1282518" cy="4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Outline</a:t>
            </a:r>
            <a:endParaRPr/>
          </a:p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65500" y="1205750"/>
            <a:ext cx="81045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●"/>
            </a:pPr>
            <a:r>
              <a:rPr lang="tr" sz="2100">
                <a:latin typeface="Old Standard TT"/>
                <a:ea typeface="Old Standard TT"/>
                <a:cs typeface="Old Standard TT"/>
                <a:sym typeface="Old Standard TT"/>
              </a:rPr>
              <a:t>Executive Summary</a:t>
            </a:r>
            <a:endParaRPr sz="21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●"/>
            </a:pPr>
            <a:r>
              <a:rPr lang="tr" sz="2100">
                <a:latin typeface="Old Standard TT"/>
                <a:ea typeface="Old Standard TT"/>
                <a:cs typeface="Old Standard TT"/>
                <a:sym typeface="Old Standard TT"/>
              </a:rPr>
              <a:t>Motivational Background</a:t>
            </a:r>
            <a:endParaRPr sz="21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●"/>
            </a:pPr>
            <a:r>
              <a:rPr lang="tr" sz="2100">
                <a:latin typeface="Old Standard TT"/>
                <a:ea typeface="Old Standard TT"/>
                <a:cs typeface="Old Standard TT"/>
                <a:sym typeface="Old Standard TT"/>
              </a:rPr>
              <a:t>Methodology</a:t>
            </a:r>
            <a:endParaRPr sz="21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●"/>
            </a:pPr>
            <a:r>
              <a:rPr lang="tr" sz="2100">
                <a:latin typeface="Old Standard TT"/>
                <a:ea typeface="Old Standard TT"/>
                <a:cs typeface="Old Standard TT"/>
                <a:sym typeface="Old Standard TT"/>
              </a:rPr>
              <a:t>Power Breakdown</a:t>
            </a:r>
            <a:endParaRPr sz="21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●"/>
            </a:pPr>
            <a:r>
              <a:rPr lang="tr" sz="2100">
                <a:latin typeface="Old Standard TT"/>
                <a:ea typeface="Old Standard TT"/>
                <a:cs typeface="Old Standard TT"/>
                <a:sym typeface="Old Standard TT"/>
              </a:rPr>
              <a:t>Demo Methodology</a:t>
            </a:r>
            <a:endParaRPr sz="21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ld Standard TT"/>
              <a:buChar char="●"/>
            </a:pPr>
            <a:r>
              <a:rPr lang="tr" sz="2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Observations </a:t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ld Standard TT"/>
              <a:buChar char="○"/>
            </a:pPr>
            <a:r>
              <a:rPr lang="tr" sz="2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Voltage Behaviour </a:t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ld Standard TT"/>
              <a:buChar char="○"/>
            </a:pPr>
            <a:r>
              <a:rPr lang="tr" sz="2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Power and Reliability Trade-off</a:t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ld Standard TT"/>
              <a:buChar char="●"/>
            </a:pPr>
            <a:r>
              <a:rPr lang="tr" sz="21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Bonus: Frequency Underscaling</a:t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rgbClr val="76A5AF"/>
                </a:solidFill>
              </a:rPr>
              <a:t>Goal:</a:t>
            </a:r>
            <a:r>
              <a:rPr lang="tr"/>
              <a:t> Achieve </a:t>
            </a:r>
            <a:r>
              <a:rPr lang="tr">
                <a:solidFill>
                  <a:srgbClr val="5B0F00"/>
                </a:solidFill>
              </a:rPr>
              <a:t>power efficiency</a:t>
            </a:r>
            <a:r>
              <a:rPr lang="tr"/>
              <a:t> by undervolting on FPGA based neural network accelerators.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Goal:</a:t>
            </a:r>
            <a:r>
              <a:rPr lang="tr"/>
              <a:t> Achieve </a:t>
            </a:r>
            <a:r>
              <a:rPr lang="tr">
                <a:solidFill>
                  <a:srgbClr val="5B0F00"/>
                </a:solidFill>
              </a:rPr>
              <a:t>power efficiency</a:t>
            </a:r>
            <a:r>
              <a:rPr lang="tr"/>
              <a:t> by undervolting on FPGA based neural network accelerators.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Supply voltage below nominal level.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Goal:</a:t>
            </a:r>
            <a:r>
              <a:rPr lang="tr"/>
              <a:t> Achieve </a:t>
            </a:r>
            <a:r>
              <a:rPr lang="tr">
                <a:solidFill>
                  <a:srgbClr val="5B0F00"/>
                </a:solidFill>
              </a:rPr>
              <a:t>power efficiency</a:t>
            </a:r>
            <a:r>
              <a:rPr lang="tr"/>
              <a:t> by undervolting on FPGA based neural network accelerators.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Supply voltage below nominal level.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Large </a:t>
            </a:r>
            <a:r>
              <a:rPr lang="tr"/>
              <a:t>guardband to ensure the correct operation under the worst-case environment. (~ %33 of the nominal supply voltage)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Goal:</a:t>
            </a:r>
            <a:r>
              <a:rPr lang="tr"/>
              <a:t> Achieve </a:t>
            </a:r>
            <a:r>
              <a:rPr lang="tr">
                <a:solidFill>
                  <a:srgbClr val="5B0F00"/>
                </a:solidFill>
              </a:rPr>
              <a:t>power efficiency</a:t>
            </a:r>
            <a:r>
              <a:rPr lang="tr"/>
              <a:t> by undervolting on FPGA based neural network accelerators.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Supply voltage below nominal level.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Large guardband to ensure the correct operation under the worst-case environment. (~ %33 of the nominal supply voltage)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Goal:</a:t>
            </a:r>
            <a:r>
              <a:rPr lang="tr"/>
              <a:t> Achieve </a:t>
            </a:r>
            <a:r>
              <a:rPr lang="tr">
                <a:solidFill>
                  <a:srgbClr val="5B0F00"/>
                </a:solidFill>
              </a:rPr>
              <a:t>power efficiency</a:t>
            </a:r>
            <a:r>
              <a:rPr lang="tr"/>
              <a:t> by undervolting on FPGA based neural network accelerators.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Supply voltage below nominal level.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Large guardband to ensure the correct operation under the worst-case environment. (~ %33 of the nominal supply voltage)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Evaluation Setup:</a:t>
            </a:r>
            <a:r>
              <a:rPr lang="tr"/>
              <a:t> 5 CNN application and 3 Xilinx Ultrascale</a:t>
            </a:r>
            <a:r>
              <a:rPr baseline="30000" lang="tr"/>
              <a:t>+</a:t>
            </a:r>
            <a:r>
              <a:rPr lang="tr"/>
              <a:t> ZCU102 boards.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Goal:</a:t>
            </a:r>
            <a:r>
              <a:rPr lang="tr"/>
              <a:t> Achieve </a:t>
            </a:r>
            <a:r>
              <a:rPr lang="tr">
                <a:solidFill>
                  <a:srgbClr val="5B0F00"/>
                </a:solidFill>
              </a:rPr>
              <a:t>power efficiency</a:t>
            </a:r>
            <a:r>
              <a:rPr lang="tr"/>
              <a:t> by undervolting on FPGA based neural network accelerators.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Supply voltage below nominal level.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Large guardband to ensure the correct operation under the worst-case environment. (~ %33 of the nominal supply voltage)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Evaluation Setup:</a:t>
            </a:r>
            <a:r>
              <a:rPr lang="tr"/>
              <a:t> 5 CNN application and 3 Xilinx Ultrascale</a:t>
            </a:r>
            <a:r>
              <a:rPr baseline="30000" lang="tr"/>
              <a:t>+</a:t>
            </a:r>
            <a:r>
              <a:rPr lang="tr"/>
              <a:t> ZCU102 boards.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Main Results:</a:t>
            </a:r>
            <a:r>
              <a:rPr lang="tr"/>
              <a:t> </a:t>
            </a:r>
            <a:r>
              <a:rPr baseline="30000" lang="tr" sz="1200"/>
              <a:t>&gt;</a:t>
            </a:r>
            <a:r>
              <a:rPr lang="tr"/>
              <a:t>3x power efficiency gain.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572000" y="1171600"/>
            <a:ext cx="4260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267200" cy="33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4572000" y="1171600"/>
            <a:ext cx="4260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It is possible to achieve significant power savings by eliminating the </a:t>
            </a:r>
            <a:r>
              <a:rPr lang="tr">
                <a:solidFill>
                  <a:srgbClr val="5B0F00"/>
                </a:solidFill>
              </a:rPr>
              <a:t>large safe guardband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267200" cy="33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4572000" y="1171600"/>
            <a:ext cx="4260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It is possible to achieve significant power savings by eliminating the </a:t>
            </a:r>
            <a:r>
              <a:rPr lang="tr">
                <a:solidFill>
                  <a:srgbClr val="5B0F00"/>
                </a:solidFill>
              </a:rPr>
              <a:t>large safe guardband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It is still possible to achieve further power savings by eliminating the </a:t>
            </a:r>
            <a:r>
              <a:rPr lang="tr">
                <a:solidFill>
                  <a:srgbClr val="5B0F00"/>
                </a:solidFill>
              </a:rPr>
              <a:t>narrow critical region</a:t>
            </a:r>
            <a:r>
              <a:rPr lang="tr"/>
              <a:t>. Reliability issues start to occur.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267200" cy="33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Executive Summary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572000" y="1171600"/>
            <a:ext cx="4260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It is possible to achieve significant power savings by eliminating the </a:t>
            </a:r>
            <a:r>
              <a:rPr lang="tr">
                <a:solidFill>
                  <a:srgbClr val="5B0F00"/>
                </a:solidFill>
              </a:rPr>
              <a:t>large safe guardband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It is still possible to achieve further power savings by eliminating the </a:t>
            </a:r>
            <a:r>
              <a:rPr lang="tr">
                <a:solidFill>
                  <a:srgbClr val="5B0F00"/>
                </a:solidFill>
              </a:rPr>
              <a:t>narrow critical region</a:t>
            </a:r>
            <a:r>
              <a:rPr lang="tr"/>
              <a:t>. Reliability issues start to occur.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The FPGA stops operating under certain voltage level.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267200" cy="33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Motivational Background</a:t>
            </a:r>
            <a:endParaRPr/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Motivational 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Neural Net. applications are getting </a:t>
            </a:r>
            <a:r>
              <a:rPr lang="tr">
                <a:solidFill>
                  <a:srgbClr val="5B0F00"/>
                </a:solidFill>
              </a:rPr>
              <a:t>more complex</a:t>
            </a:r>
            <a:r>
              <a:rPr lang="tr"/>
              <a:t> and </a:t>
            </a:r>
            <a:r>
              <a:rPr lang="tr">
                <a:solidFill>
                  <a:srgbClr val="5B0F00"/>
                </a:solidFill>
              </a:rPr>
              <a:t>power hungry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Motivational 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Neural Net. applications are getting </a:t>
            </a:r>
            <a:r>
              <a:rPr lang="tr">
                <a:solidFill>
                  <a:srgbClr val="5B0F00"/>
                </a:solidFill>
              </a:rPr>
              <a:t>more complex</a:t>
            </a:r>
            <a:r>
              <a:rPr lang="tr"/>
              <a:t> and </a:t>
            </a:r>
            <a:r>
              <a:rPr lang="tr">
                <a:solidFill>
                  <a:srgbClr val="5B0F00"/>
                </a:solidFill>
              </a:rPr>
              <a:t>power hungry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FPGAs becoming popular. </a:t>
            </a:r>
            <a:r>
              <a:rPr lang="tr"/>
              <a:t>(Amazon AWS, Intel Acceleration Hub, MS Brainwave)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Motivational 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Neural Net. applications are getting </a:t>
            </a:r>
            <a:r>
              <a:rPr lang="tr">
                <a:solidFill>
                  <a:srgbClr val="5B0F00"/>
                </a:solidFill>
              </a:rPr>
              <a:t>more complex</a:t>
            </a:r>
            <a:r>
              <a:rPr lang="tr"/>
              <a:t> and </a:t>
            </a:r>
            <a:r>
              <a:rPr lang="tr">
                <a:solidFill>
                  <a:srgbClr val="5B0F00"/>
                </a:solidFill>
              </a:rPr>
              <a:t>power hungry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FPGAs becoming popular. (Amazon AWS, Intel Acceleration Hub, </a:t>
            </a:r>
            <a:r>
              <a:rPr lang="tr"/>
              <a:t>MS Brainwave</a:t>
            </a:r>
            <a:r>
              <a:rPr lang="tr"/>
              <a:t>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Higher throughput than GPUs.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Higher flexibility than ASICs.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Motivational 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Neural Net. applications are getting </a:t>
            </a:r>
            <a:r>
              <a:rPr lang="tr">
                <a:solidFill>
                  <a:srgbClr val="5B0F00"/>
                </a:solidFill>
              </a:rPr>
              <a:t>more complex</a:t>
            </a:r>
            <a:r>
              <a:rPr lang="tr"/>
              <a:t> and </a:t>
            </a:r>
            <a:r>
              <a:rPr lang="tr">
                <a:solidFill>
                  <a:srgbClr val="5B0F00"/>
                </a:solidFill>
              </a:rPr>
              <a:t>power hungry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FPGAs becoming popular. (Amazon AWS, Intel Acceleration Hub, </a:t>
            </a:r>
            <a:r>
              <a:rPr lang="tr"/>
              <a:t>MS Brainwave</a:t>
            </a:r>
            <a:r>
              <a:rPr lang="tr"/>
              <a:t>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Higher throughput than GPUs.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Higher flexibility than ASICs.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FPGAs are </a:t>
            </a:r>
            <a:r>
              <a:rPr lang="tr">
                <a:solidFill>
                  <a:srgbClr val="5B0F00"/>
                </a:solidFill>
              </a:rPr>
              <a:t>less power efficient</a:t>
            </a:r>
            <a:r>
              <a:rPr lang="tr"/>
              <a:t> than equivalent ASICs.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Motivational 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Neural Net. applications are getting </a:t>
            </a:r>
            <a:r>
              <a:rPr lang="tr">
                <a:solidFill>
                  <a:srgbClr val="5B0F00"/>
                </a:solidFill>
              </a:rPr>
              <a:t>more complex</a:t>
            </a:r>
            <a:r>
              <a:rPr lang="tr"/>
              <a:t> and </a:t>
            </a:r>
            <a:r>
              <a:rPr lang="tr">
                <a:solidFill>
                  <a:srgbClr val="5B0F00"/>
                </a:solidFill>
              </a:rPr>
              <a:t>power hungry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FPGAs becoming popular. (Amazon AWS, Intel Acceleration Hub, </a:t>
            </a:r>
            <a:r>
              <a:rPr lang="tr"/>
              <a:t>MS Brainwave</a:t>
            </a:r>
            <a:r>
              <a:rPr lang="tr"/>
              <a:t>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Higher throughput than GPUs.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Higher flexibility than ASICs.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FPGAs are </a:t>
            </a:r>
            <a:r>
              <a:rPr lang="tr">
                <a:solidFill>
                  <a:srgbClr val="5B0F00"/>
                </a:solidFill>
              </a:rPr>
              <a:t>less power efficient</a:t>
            </a:r>
            <a:r>
              <a:rPr lang="tr"/>
              <a:t> than equivalent ASICs.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Neural Net. applications are </a:t>
            </a:r>
            <a:r>
              <a:rPr lang="tr">
                <a:solidFill>
                  <a:srgbClr val="5B0F00"/>
                </a:solidFill>
              </a:rPr>
              <a:t>inherently tolerant to errors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Motivational 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Neural Net. applications are getting </a:t>
            </a:r>
            <a:r>
              <a:rPr lang="tr">
                <a:solidFill>
                  <a:srgbClr val="5B0F00"/>
                </a:solidFill>
              </a:rPr>
              <a:t>more complex</a:t>
            </a:r>
            <a:r>
              <a:rPr lang="tr"/>
              <a:t> and </a:t>
            </a:r>
            <a:r>
              <a:rPr lang="tr">
                <a:solidFill>
                  <a:srgbClr val="5B0F00"/>
                </a:solidFill>
              </a:rPr>
              <a:t>power hungry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FPGAs becoming popular. (Amazon AWS, Intel Acceleration Hub, </a:t>
            </a:r>
            <a:r>
              <a:rPr lang="tr"/>
              <a:t>MS Brainwave</a:t>
            </a:r>
            <a:r>
              <a:rPr lang="tr"/>
              <a:t>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Higher throughput than GPUs.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Higher flexibility than ASICs.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FPGAs are </a:t>
            </a:r>
            <a:r>
              <a:rPr lang="tr">
                <a:solidFill>
                  <a:srgbClr val="5B0F00"/>
                </a:solidFill>
              </a:rPr>
              <a:t>less power efficient</a:t>
            </a:r>
            <a:r>
              <a:rPr lang="tr"/>
              <a:t> than equivalent ASICs.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Neural Net. applications are </a:t>
            </a:r>
            <a:r>
              <a:rPr lang="tr">
                <a:solidFill>
                  <a:srgbClr val="5B0F00"/>
                </a:solidFill>
              </a:rPr>
              <a:t>inherently tolerant to errors</a:t>
            </a:r>
            <a:r>
              <a:rPr lang="t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Potential: </a:t>
            </a:r>
            <a:r>
              <a:rPr lang="tr">
                <a:solidFill>
                  <a:srgbClr val="000000"/>
                </a:solidFill>
              </a:rPr>
              <a:t>Undervolting for FPGAs?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Methodology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4572000" y="1171600"/>
            <a:ext cx="4341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</a:rPr>
              <a:t>5 CNN applications. (VGGNet, AlexNet, GoogleNet, ResNet, Inception)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75" y="1171600"/>
            <a:ext cx="3498051" cy="358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/>
          <p:nvPr/>
        </p:nvSpPr>
        <p:spPr>
          <a:xfrm>
            <a:off x="355900" y="1171600"/>
            <a:ext cx="3460800" cy="644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Methodology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4572000" y="1171600"/>
            <a:ext cx="43419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</a:rPr>
              <a:t>5 CNN applications. (VGGNet, AlexNet, GoogleNet, ResNet, Inception)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1155CC"/>
                </a:solidFill>
              </a:rPr>
              <a:t>3 Xilinx Ultrascale</a:t>
            </a:r>
            <a:r>
              <a:rPr baseline="30000" lang="tr">
                <a:solidFill>
                  <a:srgbClr val="1155CC"/>
                </a:solidFill>
              </a:rPr>
              <a:t>+</a:t>
            </a:r>
            <a:r>
              <a:rPr lang="tr">
                <a:solidFill>
                  <a:srgbClr val="1155CC"/>
                </a:solidFill>
              </a:rPr>
              <a:t> ZCU102 boards.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75" y="1171600"/>
            <a:ext cx="3498051" cy="358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4"/>
          <p:cNvSpPr/>
          <p:nvPr/>
        </p:nvSpPr>
        <p:spPr>
          <a:xfrm>
            <a:off x="355900" y="1171600"/>
            <a:ext cx="3460800" cy="644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355900" y="1815700"/>
            <a:ext cx="3460800" cy="2660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Methodology</a:t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4572000" y="1171600"/>
            <a:ext cx="43419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</a:rPr>
              <a:t>5 CNN applications. (VGGNet, AlexNet, GoogleNet, ResNet, Inception)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1155CC"/>
                </a:solidFill>
              </a:rPr>
              <a:t>3 Xilinx Ultrascale</a:t>
            </a:r>
            <a:r>
              <a:rPr baseline="30000" lang="tr">
                <a:solidFill>
                  <a:srgbClr val="1155CC"/>
                </a:solidFill>
              </a:rPr>
              <a:t>+</a:t>
            </a:r>
            <a:r>
              <a:rPr lang="tr">
                <a:solidFill>
                  <a:srgbClr val="1155CC"/>
                </a:solidFill>
              </a:rPr>
              <a:t> ZCU102 boards.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rgbClr val="1155CC"/>
                </a:solidFill>
              </a:rPr>
              <a:t>Xilinx DNNDK to map CNN to FPGA.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75" y="1171600"/>
            <a:ext cx="3498051" cy="358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/>
          <p:nvPr/>
        </p:nvSpPr>
        <p:spPr>
          <a:xfrm>
            <a:off x="355900" y="1171600"/>
            <a:ext cx="3460800" cy="644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5"/>
          <p:cNvSpPr/>
          <p:nvPr/>
        </p:nvSpPr>
        <p:spPr>
          <a:xfrm>
            <a:off x="355900" y="1815700"/>
            <a:ext cx="3460800" cy="2660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Methodology</a:t>
            </a:r>
            <a:endParaRPr/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4572000" y="1171600"/>
            <a:ext cx="43419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</a:rPr>
              <a:t>5 CNN applications. (VGGNet, AlexNet, GoogleNet, ResNet, Inception)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1155CC"/>
                </a:solidFill>
              </a:rPr>
              <a:t>3 Xilinx Ultrascale</a:t>
            </a:r>
            <a:r>
              <a:rPr baseline="30000" lang="tr">
                <a:solidFill>
                  <a:srgbClr val="1155CC"/>
                </a:solidFill>
              </a:rPr>
              <a:t>+</a:t>
            </a:r>
            <a:r>
              <a:rPr lang="tr">
                <a:solidFill>
                  <a:srgbClr val="1155CC"/>
                </a:solidFill>
              </a:rPr>
              <a:t> ZCU102 boards.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1155CC"/>
                </a:solidFill>
              </a:rPr>
              <a:t>Xilinx DNNDK to map CNN to FPGA.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tr">
                <a:solidFill>
                  <a:srgbClr val="5B0F00"/>
                </a:solidFill>
              </a:rPr>
              <a:t>Regulate voltage rails by PMBus API.</a:t>
            </a:r>
            <a:endParaRPr>
              <a:solidFill>
                <a:srgbClr val="5B0F00"/>
              </a:solidFill>
            </a:endParaRPr>
          </a:p>
        </p:txBody>
      </p:sp>
      <p:pic>
        <p:nvPicPr>
          <p:cNvPr id="238" name="Google Shape;23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75" y="1171600"/>
            <a:ext cx="3498051" cy="358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6"/>
          <p:cNvSpPr/>
          <p:nvPr/>
        </p:nvSpPr>
        <p:spPr>
          <a:xfrm>
            <a:off x="355900" y="1171600"/>
            <a:ext cx="3460800" cy="644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/>
          <p:nvPr/>
        </p:nvSpPr>
        <p:spPr>
          <a:xfrm>
            <a:off x="355900" y="1815700"/>
            <a:ext cx="3460800" cy="2660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6"/>
          <p:cNvSpPr/>
          <p:nvPr/>
        </p:nvSpPr>
        <p:spPr>
          <a:xfrm>
            <a:off x="355900" y="4476400"/>
            <a:ext cx="3460800" cy="348300"/>
          </a:xfrm>
          <a:prstGeom prst="rect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Methodology</a:t>
            </a:r>
            <a:endParaRPr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4572000" y="1171600"/>
            <a:ext cx="43419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</a:rPr>
              <a:t>5 CNN applications. (VGGNet, AlexNet, GoogleNet, ResNet, Inception)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1155CC"/>
                </a:solidFill>
              </a:rPr>
              <a:t>3 Xilinx Ultrascale</a:t>
            </a:r>
            <a:r>
              <a:rPr baseline="30000" lang="tr">
                <a:solidFill>
                  <a:srgbClr val="1155CC"/>
                </a:solidFill>
              </a:rPr>
              <a:t>+</a:t>
            </a:r>
            <a:r>
              <a:rPr lang="tr">
                <a:solidFill>
                  <a:srgbClr val="1155CC"/>
                </a:solidFill>
              </a:rPr>
              <a:t> ZCU102 boards.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1155CC"/>
                </a:solidFill>
              </a:rPr>
              <a:t>Xilinx DNNDK to map CNN to FPGA.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5B0F00"/>
                </a:solidFill>
              </a:rPr>
              <a:t>Regulate voltage rails by PMBus API.</a:t>
            </a:r>
            <a:endParaRPr>
              <a:solidFill>
                <a:srgbClr val="5B0F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tr"/>
              <a:t>PS side ARM processor to orchestrate CNN inference and voltage regulation. </a:t>
            </a:r>
            <a:endParaRPr>
              <a:solidFill>
                <a:srgbClr val="5B0F00"/>
              </a:solidFill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75" y="1171600"/>
            <a:ext cx="3498051" cy="358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/>
          <p:nvPr/>
        </p:nvSpPr>
        <p:spPr>
          <a:xfrm>
            <a:off x="355900" y="1171600"/>
            <a:ext cx="3460800" cy="644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7"/>
          <p:cNvSpPr/>
          <p:nvPr/>
        </p:nvSpPr>
        <p:spPr>
          <a:xfrm>
            <a:off x="355900" y="1815700"/>
            <a:ext cx="3460800" cy="2660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/>
          <p:nvPr/>
        </p:nvSpPr>
        <p:spPr>
          <a:xfrm>
            <a:off x="355900" y="4476400"/>
            <a:ext cx="3460800" cy="348300"/>
          </a:xfrm>
          <a:prstGeom prst="rect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Power Breakdown</a:t>
            </a:r>
            <a:endParaRPr/>
          </a:p>
        </p:txBody>
      </p:sp>
      <p:sp>
        <p:nvSpPr>
          <p:cNvPr id="259" name="Google Shape;259;p38"/>
          <p:cNvSpPr txBox="1"/>
          <p:nvPr>
            <p:ph idx="1" type="body"/>
          </p:nvPr>
        </p:nvSpPr>
        <p:spPr>
          <a:xfrm>
            <a:off x="4572000" y="1171600"/>
            <a:ext cx="43419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~99% of the total power is consumed by internal components of the FPGA. (</a:t>
            </a:r>
            <a:r>
              <a:rPr lang="tr">
                <a:solidFill>
                  <a:srgbClr val="45818E"/>
                </a:solidFill>
              </a:rPr>
              <a:t>VCCint</a:t>
            </a:r>
            <a:r>
              <a:rPr lang="tr"/>
              <a:t>)</a:t>
            </a:r>
            <a:endParaRPr>
              <a:solidFill>
                <a:srgbClr val="5B0F00"/>
              </a:solidFill>
            </a:endParaRPr>
          </a:p>
        </p:txBody>
      </p:sp>
      <p:pic>
        <p:nvPicPr>
          <p:cNvPr id="260" name="Google Shape;26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0625"/>
            <a:ext cx="3862724" cy="327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Power Breakdown</a:t>
            </a:r>
            <a:endParaRPr/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4572000" y="1171600"/>
            <a:ext cx="43419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~99% of the total power is consumed by internal components of the FPGA. (</a:t>
            </a:r>
            <a:r>
              <a:rPr lang="tr">
                <a:solidFill>
                  <a:srgbClr val="45818E"/>
                </a:solidFill>
              </a:rPr>
              <a:t>VCCint</a:t>
            </a:r>
            <a:r>
              <a:rPr lang="tr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45818E"/>
                </a:solidFill>
              </a:rPr>
              <a:t>VCCint</a:t>
            </a:r>
            <a:r>
              <a:rPr lang="tr"/>
              <a:t> shares voltage with internal components of the FPGA’s which are DSPs, LUTs and buffers.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0625"/>
            <a:ext cx="3862724" cy="327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Power Breakdown</a:t>
            </a:r>
            <a:endParaRPr/>
          </a:p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4572000" y="1171600"/>
            <a:ext cx="43419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Observation:</a:t>
            </a:r>
            <a:r>
              <a:rPr lang="tr"/>
              <a:t> ~99% of the total power is consumed by internal components of the FPGA. (</a:t>
            </a:r>
            <a:r>
              <a:rPr lang="tr">
                <a:solidFill>
                  <a:srgbClr val="45818E"/>
                </a:solidFill>
              </a:rPr>
              <a:t>VCCint</a:t>
            </a:r>
            <a:r>
              <a:rPr lang="tr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45818E"/>
                </a:solidFill>
              </a:rPr>
              <a:t>VCCint</a:t>
            </a:r>
            <a:r>
              <a:rPr lang="tr"/>
              <a:t> shares voltage with internal components of the FPGA’s which are DSPs, LUTs and buffers.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tr"/>
              <a:t>The rest of the analysis is based on the </a:t>
            </a:r>
            <a:r>
              <a:rPr lang="tr">
                <a:solidFill>
                  <a:schemeClr val="dk2"/>
                </a:solidFill>
              </a:rPr>
              <a:t>VCCint</a:t>
            </a:r>
            <a:r>
              <a:rPr lang="tr"/>
              <a:t> in terms of undervolting.</a:t>
            </a:r>
            <a:endParaRPr/>
          </a:p>
        </p:txBody>
      </p:sp>
      <p:pic>
        <p:nvPicPr>
          <p:cNvPr id="276" name="Google Shape;27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0625"/>
            <a:ext cx="3862724" cy="327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Demo Methodology</a:t>
            </a:r>
            <a:endParaRPr/>
          </a:p>
        </p:txBody>
      </p:sp>
      <p:sp>
        <p:nvSpPr>
          <p:cNvPr id="283" name="Google Shape;28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84" name="Google Shape;28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50" y="1606500"/>
            <a:ext cx="1436124" cy="111912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1"/>
          <p:cNvSpPr txBox="1"/>
          <p:nvPr/>
        </p:nvSpPr>
        <p:spPr>
          <a:xfrm>
            <a:off x="723750" y="2887461"/>
            <a:ext cx="1436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Xilinx ZCU102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Demo Methodology</a:t>
            </a:r>
            <a:endParaRPr/>
          </a:p>
        </p:txBody>
      </p:sp>
      <p:sp>
        <p:nvSpPr>
          <p:cNvPr id="291" name="Google Shape;29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92" name="Google Shape;2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50" y="1606500"/>
            <a:ext cx="1436124" cy="111912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 txBox="1"/>
          <p:nvPr/>
        </p:nvSpPr>
        <p:spPr>
          <a:xfrm>
            <a:off x="723750" y="2887461"/>
            <a:ext cx="1436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Xilinx ZCU102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294" name="Google Shape;294;p42"/>
          <p:cNvCxnSpPr/>
          <p:nvPr/>
        </p:nvCxnSpPr>
        <p:spPr>
          <a:xfrm flipH="1" rot="10800000">
            <a:off x="731300" y="3498750"/>
            <a:ext cx="1411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42"/>
          <p:cNvSpPr txBox="1"/>
          <p:nvPr/>
        </p:nvSpPr>
        <p:spPr>
          <a:xfrm>
            <a:off x="723750" y="35817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DNNDK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96" name="Google Shape;296;p42"/>
          <p:cNvSpPr txBox="1"/>
          <p:nvPr/>
        </p:nvSpPr>
        <p:spPr>
          <a:xfrm>
            <a:off x="723750" y="38865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Petalinux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97" name="Google Shape;29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25" y="4310825"/>
            <a:ext cx="106737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Demo Methodology</a:t>
            </a:r>
            <a:endParaRPr/>
          </a:p>
        </p:txBody>
      </p:sp>
      <p:sp>
        <p:nvSpPr>
          <p:cNvPr id="303" name="Google Shape;30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304" name="Google Shape;3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50" y="1606500"/>
            <a:ext cx="1436124" cy="11191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/>
        </p:nvSpPr>
        <p:spPr>
          <a:xfrm>
            <a:off x="723750" y="2887461"/>
            <a:ext cx="1436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Xilinx ZCU102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06" name="Google Shape;306;p43"/>
          <p:cNvCxnSpPr/>
          <p:nvPr/>
        </p:nvCxnSpPr>
        <p:spPr>
          <a:xfrm flipH="1" rot="10800000">
            <a:off x="731300" y="3498750"/>
            <a:ext cx="1411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43"/>
          <p:cNvSpPr txBox="1"/>
          <p:nvPr/>
        </p:nvSpPr>
        <p:spPr>
          <a:xfrm>
            <a:off x="723750" y="35817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DNNDK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08" name="Google Shape;308;p43"/>
          <p:cNvSpPr txBox="1"/>
          <p:nvPr/>
        </p:nvSpPr>
        <p:spPr>
          <a:xfrm>
            <a:off x="3830575" y="1340900"/>
            <a:ext cx="374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Regulate Voltage (PMBus API)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09" name="Google Shape;309;p43"/>
          <p:cNvSpPr txBox="1"/>
          <p:nvPr/>
        </p:nvSpPr>
        <p:spPr>
          <a:xfrm>
            <a:off x="723750" y="38865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Petalinux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10" name="Google Shape;31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25" y="4310825"/>
            <a:ext cx="106737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Demo Methodology</a:t>
            </a:r>
            <a:endParaRPr/>
          </a:p>
        </p:txBody>
      </p:sp>
      <p:sp>
        <p:nvSpPr>
          <p:cNvPr id="316" name="Google Shape;31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317" name="Google Shape;3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50" y="1606500"/>
            <a:ext cx="1436124" cy="111912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4"/>
          <p:cNvSpPr txBox="1"/>
          <p:nvPr/>
        </p:nvSpPr>
        <p:spPr>
          <a:xfrm>
            <a:off x="723750" y="2887461"/>
            <a:ext cx="1436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Xilinx ZCU102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19" name="Google Shape;319;p44"/>
          <p:cNvCxnSpPr/>
          <p:nvPr/>
        </p:nvCxnSpPr>
        <p:spPr>
          <a:xfrm flipH="1" rot="10800000">
            <a:off x="731300" y="3498750"/>
            <a:ext cx="1411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44"/>
          <p:cNvSpPr txBox="1"/>
          <p:nvPr/>
        </p:nvSpPr>
        <p:spPr>
          <a:xfrm>
            <a:off x="723750" y="35817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DNNDK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21" name="Google Shape;321;p44"/>
          <p:cNvSpPr txBox="1"/>
          <p:nvPr/>
        </p:nvSpPr>
        <p:spPr>
          <a:xfrm>
            <a:off x="3830575" y="1340900"/>
            <a:ext cx="374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Regulate Voltage (PMBus API)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22" name="Google Shape;322;p44"/>
          <p:cNvSpPr txBox="1"/>
          <p:nvPr/>
        </p:nvSpPr>
        <p:spPr>
          <a:xfrm>
            <a:off x="3830575" y="1721900"/>
            <a:ext cx="3700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Start neural network inference (Bash)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23" name="Google Shape;323;p44"/>
          <p:cNvSpPr txBox="1"/>
          <p:nvPr/>
        </p:nvSpPr>
        <p:spPr>
          <a:xfrm>
            <a:off x="723750" y="38865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Petalinux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24" name="Google Shape;32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25" y="4310825"/>
            <a:ext cx="106737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Demo Methodology</a:t>
            </a:r>
            <a:endParaRPr/>
          </a:p>
        </p:txBody>
      </p:sp>
      <p:sp>
        <p:nvSpPr>
          <p:cNvPr id="330" name="Google Shape;33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331" name="Google Shape;33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50" y="1606500"/>
            <a:ext cx="1436124" cy="111912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5"/>
          <p:cNvSpPr txBox="1"/>
          <p:nvPr/>
        </p:nvSpPr>
        <p:spPr>
          <a:xfrm>
            <a:off x="723750" y="2887461"/>
            <a:ext cx="1436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Xilinx ZCU102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33" name="Google Shape;333;p45"/>
          <p:cNvCxnSpPr/>
          <p:nvPr/>
        </p:nvCxnSpPr>
        <p:spPr>
          <a:xfrm flipH="1" rot="10800000">
            <a:off x="731300" y="3498750"/>
            <a:ext cx="1411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45"/>
          <p:cNvSpPr txBox="1"/>
          <p:nvPr/>
        </p:nvSpPr>
        <p:spPr>
          <a:xfrm>
            <a:off x="723750" y="35817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DNNDK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5" name="Google Shape;335;p45"/>
          <p:cNvSpPr txBox="1"/>
          <p:nvPr/>
        </p:nvSpPr>
        <p:spPr>
          <a:xfrm>
            <a:off x="3830575" y="1340900"/>
            <a:ext cx="374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Regulate Voltage (PMBus API)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6" name="Google Shape;336;p45"/>
          <p:cNvSpPr txBox="1"/>
          <p:nvPr/>
        </p:nvSpPr>
        <p:spPr>
          <a:xfrm>
            <a:off x="3830575" y="1721900"/>
            <a:ext cx="3700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Start neural network inference (Bash)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3827425" y="2117775"/>
            <a:ext cx="41391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Start logging VCCint consumption (PMBus API)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723750" y="38865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Petalinux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39" name="Google Shape;33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25" y="4310825"/>
            <a:ext cx="106737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Demo Methodology</a:t>
            </a:r>
            <a:endParaRPr/>
          </a:p>
        </p:txBody>
      </p:sp>
      <p:sp>
        <p:nvSpPr>
          <p:cNvPr id="345" name="Google Shape;34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346" name="Google Shape;3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50" y="1606500"/>
            <a:ext cx="1436124" cy="111912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6"/>
          <p:cNvSpPr txBox="1"/>
          <p:nvPr/>
        </p:nvSpPr>
        <p:spPr>
          <a:xfrm>
            <a:off x="723750" y="2887461"/>
            <a:ext cx="1436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Xilinx ZCU102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48" name="Google Shape;348;p46"/>
          <p:cNvCxnSpPr/>
          <p:nvPr/>
        </p:nvCxnSpPr>
        <p:spPr>
          <a:xfrm flipH="1" rot="10800000">
            <a:off x="731300" y="3498750"/>
            <a:ext cx="1411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46"/>
          <p:cNvSpPr txBox="1"/>
          <p:nvPr/>
        </p:nvSpPr>
        <p:spPr>
          <a:xfrm>
            <a:off x="723750" y="35817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DNNDK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0" name="Google Shape;350;p46"/>
          <p:cNvSpPr txBox="1"/>
          <p:nvPr/>
        </p:nvSpPr>
        <p:spPr>
          <a:xfrm>
            <a:off x="3830575" y="1340900"/>
            <a:ext cx="374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Regulate Voltage (PMBus API)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1" name="Google Shape;351;p46"/>
          <p:cNvSpPr txBox="1"/>
          <p:nvPr/>
        </p:nvSpPr>
        <p:spPr>
          <a:xfrm>
            <a:off x="3830575" y="1721900"/>
            <a:ext cx="3700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Start neural network inference (Bash)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2" name="Google Shape;352;p46"/>
          <p:cNvSpPr txBox="1"/>
          <p:nvPr/>
        </p:nvSpPr>
        <p:spPr>
          <a:xfrm>
            <a:off x="3827425" y="2117775"/>
            <a:ext cx="41391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Start logging VCCint consumption (PMBus API)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3" name="Google Shape;353;p46"/>
          <p:cNvSpPr txBox="1"/>
          <p:nvPr/>
        </p:nvSpPr>
        <p:spPr>
          <a:xfrm>
            <a:off x="3827425" y="2498775"/>
            <a:ext cx="2708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Evaluate Accuracy (Python)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54" name="Google Shape;354;p46"/>
          <p:cNvSpPr txBox="1"/>
          <p:nvPr/>
        </p:nvSpPr>
        <p:spPr>
          <a:xfrm>
            <a:off x="723750" y="38865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Petalinux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55" name="Google Shape;35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25" y="4310825"/>
            <a:ext cx="106737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Demo Methodology</a:t>
            </a:r>
            <a:endParaRPr/>
          </a:p>
        </p:txBody>
      </p:sp>
      <p:sp>
        <p:nvSpPr>
          <p:cNvPr id="361" name="Google Shape;36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362" name="Google Shape;36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50" y="1606500"/>
            <a:ext cx="1436124" cy="111912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7"/>
          <p:cNvSpPr txBox="1"/>
          <p:nvPr/>
        </p:nvSpPr>
        <p:spPr>
          <a:xfrm>
            <a:off x="723750" y="2887461"/>
            <a:ext cx="1436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Xilinx ZCU102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64" name="Google Shape;364;p47"/>
          <p:cNvCxnSpPr/>
          <p:nvPr/>
        </p:nvCxnSpPr>
        <p:spPr>
          <a:xfrm flipH="1" rot="10800000">
            <a:off x="731300" y="3498750"/>
            <a:ext cx="1411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47"/>
          <p:cNvSpPr txBox="1"/>
          <p:nvPr/>
        </p:nvSpPr>
        <p:spPr>
          <a:xfrm>
            <a:off x="723750" y="35817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DNNDK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66" name="Google Shape;366;p47"/>
          <p:cNvSpPr txBox="1"/>
          <p:nvPr/>
        </p:nvSpPr>
        <p:spPr>
          <a:xfrm>
            <a:off x="3830575" y="1340900"/>
            <a:ext cx="374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Regulate Voltage (PMBus API)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67" name="Google Shape;367;p47"/>
          <p:cNvSpPr txBox="1"/>
          <p:nvPr/>
        </p:nvSpPr>
        <p:spPr>
          <a:xfrm>
            <a:off x="3830575" y="1721900"/>
            <a:ext cx="3700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Start neural network inference (Bash)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68" name="Google Shape;368;p47"/>
          <p:cNvSpPr txBox="1"/>
          <p:nvPr/>
        </p:nvSpPr>
        <p:spPr>
          <a:xfrm>
            <a:off x="3827425" y="2117775"/>
            <a:ext cx="41391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Start logging VCCint consumption (PMBus API)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69" name="Google Shape;369;p47"/>
          <p:cNvSpPr txBox="1"/>
          <p:nvPr/>
        </p:nvSpPr>
        <p:spPr>
          <a:xfrm>
            <a:off x="3827425" y="2498775"/>
            <a:ext cx="2708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Evaluate Accuracy (Python)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70" name="Google Shape;370;p47"/>
          <p:cNvSpPr txBox="1"/>
          <p:nvPr/>
        </p:nvSpPr>
        <p:spPr>
          <a:xfrm>
            <a:off x="723750" y="3886575"/>
            <a:ext cx="143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Petalinux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71" name="Google Shape;37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25" y="4310825"/>
            <a:ext cx="106737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7"/>
          <p:cNvSpPr/>
          <p:nvPr/>
        </p:nvSpPr>
        <p:spPr>
          <a:xfrm>
            <a:off x="3765650" y="1320150"/>
            <a:ext cx="4047000" cy="178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7"/>
          <p:cNvSpPr/>
          <p:nvPr/>
        </p:nvSpPr>
        <p:spPr>
          <a:xfrm>
            <a:off x="4054725" y="3347225"/>
            <a:ext cx="865800" cy="9636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7"/>
          <p:cNvSpPr txBox="1"/>
          <p:nvPr/>
        </p:nvSpPr>
        <p:spPr>
          <a:xfrm>
            <a:off x="5252225" y="3632225"/>
            <a:ext cx="2791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Repeat for each voltage level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Observations</a:t>
            </a:r>
            <a:endParaRPr/>
          </a:p>
        </p:txBody>
      </p:sp>
      <p:sp>
        <p:nvSpPr>
          <p:cNvPr id="380" name="Google Shape;380;p48"/>
          <p:cNvSpPr txBox="1"/>
          <p:nvPr>
            <p:ph idx="1" type="body"/>
          </p:nvPr>
        </p:nvSpPr>
        <p:spPr>
          <a:xfrm>
            <a:off x="311700" y="1171600"/>
            <a:ext cx="86022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Result-1</a:t>
            </a:r>
            <a:r>
              <a:rPr b="1" lang="tr">
                <a:solidFill>
                  <a:srgbClr val="76A5AF"/>
                </a:solidFill>
              </a:rPr>
              <a:t>: </a:t>
            </a:r>
            <a:r>
              <a:rPr lang="tr"/>
              <a:t>Voltage behaviour.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Observations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9"/>
          <p:cNvSpPr txBox="1"/>
          <p:nvPr>
            <p:ph idx="1" type="body"/>
          </p:nvPr>
        </p:nvSpPr>
        <p:spPr>
          <a:xfrm>
            <a:off x="311700" y="1171600"/>
            <a:ext cx="86022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Result-1: </a:t>
            </a:r>
            <a:r>
              <a:rPr lang="tr"/>
              <a:t>Voltage behaviour.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Empirically analyze the guardband and voltage regions of the FPGA.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Observations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0"/>
          <p:cNvSpPr txBox="1"/>
          <p:nvPr>
            <p:ph idx="1" type="body"/>
          </p:nvPr>
        </p:nvSpPr>
        <p:spPr>
          <a:xfrm>
            <a:off x="311700" y="1171600"/>
            <a:ext cx="86022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Result-1: </a:t>
            </a:r>
            <a:r>
              <a:rPr lang="tr"/>
              <a:t>Voltage behaviour.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Empirically analyze the guardband and voltage regions of the FPGA.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Result-2: </a:t>
            </a:r>
            <a:r>
              <a:rPr lang="tr"/>
              <a:t>Power and Reliability trade-off.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Observations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1"/>
          <p:cNvSpPr txBox="1"/>
          <p:nvPr>
            <p:ph idx="1" type="body"/>
          </p:nvPr>
        </p:nvSpPr>
        <p:spPr>
          <a:xfrm>
            <a:off x="311700" y="1171600"/>
            <a:ext cx="8602200" cy="33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Result-1: </a:t>
            </a:r>
            <a:r>
              <a:rPr lang="tr"/>
              <a:t>Voltage behaviour.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Empirically analyze the guardband and voltage regions of the FPGA.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Result-2: </a:t>
            </a:r>
            <a:r>
              <a:rPr lang="tr"/>
              <a:t>Power and Reliability trade-off.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Correlation between </a:t>
            </a:r>
            <a:r>
              <a:rPr lang="tr">
                <a:solidFill>
                  <a:srgbClr val="5B0F00"/>
                </a:solidFill>
              </a:rPr>
              <a:t>accuracy loss</a:t>
            </a:r>
            <a:r>
              <a:rPr lang="tr"/>
              <a:t> and </a:t>
            </a:r>
            <a:r>
              <a:rPr lang="tr">
                <a:solidFill>
                  <a:srgbClr val="5B0F00"/>
                </a:solidFill>
              </a:rPr>
              <a:t>energy saving</a:t>
            </a:r>
            <a:r>
              <a:rPr lang="tr"/>
              <a:t>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Voltage Behaviour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8" name="Google Shape;40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267201" cy="335817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Voltage Behaviour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3"/>
          <p:cNvSpPr txBox="1"/>
          <p:nvPr>
            <p:ph idx="1" type="body"/>
          </p:nvPr>
        </p:nvSpPr>
        <p:spPr>
          <a:xfrm>
            <a:off x="4572000" y="562000"/>
            <a:ext cx="4260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Safe guardband:</a:t>
            </a:r>
            <a:r>
              <a:rPr lang="tr"/>
              <a:t> ~33% of the nominal supply voltage can be eliminated without reliability issues. (</a:t>
            </a:r>
            <a:r>
              <a:rPr lang="tr">
                <a:solidFill>
                  <a:srgbClr val="76A5AF"/>
                </a:solidFill>
              </a:rPr>
              <a:t>850-570mV</a:t>
            </a:r>
            <a:r>
              <a:rPr lang="tr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tr"/>
              <a:t>Added by manufacturers to ensure correct operation under worst-case environment.</a:t>
            </a:r>
            <a:endParaRPr/>
          </a:p>
        </p:txBody>
      </p:sp>
      <p:pic>
        <p:nvPicPr>
          <p:cNvPr id="416" name="Google Shape;41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267201" cy="3358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3"/>
          <p:cNvSpPr/>
          <p:nvPr/>
        </p:nvSpPr>
        <p:spPr>
          <a:xfrm>
            <a:off x="2354000" y="3599000"/>
            <a:ext cx="1883100" cy="4395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~33% of the nominal voltage</a:t>
            </a:r>
            <a:endParaRPr sz="1200"/>
          </a:p>
        </p:txBody>
      </p:sp>
      <p:sp>
        <p:nvSpPr>
          <p:cNvPr id="418" name="Google Shape;41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Voltage Behaviour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4"/>
          <p:cNvSpPr txBox="1"/>
          <p:nvPr>
            <p:ph idx="1" type="body"/>
          </p:nvPr>
        </p:nvSpPr>
        <p:spPr>
          <a:xfrm>
            <a:off x="4572000" y="562000"/>
            <a:ext cx="4260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Safe guardband:</a:t>
            </a:r>
            <a:r>
              <a:rPr lang="tr"/>
              <a:t> ~33% of the nominal supply voltage can be eliminated without reliability issues. (</a:t>
            </a:r>
            <a:r>
              <a:rPr lang="tr">
                <a:solidFill>
                  <a:srgbClr val="76A5AF"/>
                </a:solidFill>
              </a:rPr>
              <a:t>850-570mV</a:t>
            </a:r>
            <a:r>
              <a:rPr lang="tr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Added by manufacturers to ensure correct operation under worst-case environment.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F1C232"/>
                </a:solidFill>
              </a:rPr>
              <a:t>Critical Region:</a:t>
            </a:r>
            <a:r>
              <a:rPr lang="tr">
                <a:solidFill>
                  <a:srgbClr val="F1C232"/>
                </a:solidFill>
              </a:rPr>
              <a:t> </a:t>
            </a:r>
            <a:r>
              <a:rPr lang="tr"/>
              <a:t>S</a:t>
            </a:r>
            <a:r>
              <a:rPr lang="tr"/>
              <a:t>upply voltage can be reduced further more to achieve an additional 43% power saving with reliability issues. (</a:t>
            </a:r>
            <a:r>
              <a:rPr lang="tr">
                <a:solidFill>
                  <a:srgbClr val="F1C232"/>
                </a:solidFill>
              </a:rPr>
              <a:t>570-540mV</a:t>
            </a:r>
            <a:r>
              <a:rPr lang="tr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267201" cy="335817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4"/>
          <p:cNvSpPr/>
          <p:nvPr/>
        </p:nvSpPr>
        <p:spPr>
          <a:xfrm>
            <a:off x="2354000" y="3599000"/>
            <a:ext cx="1883100" cy="4395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~33% of the nominal voltage</a:t>
            </a:r>
            <a:endParaRPr sz="1200"/>
          </a:p>
        </p:txBody>
      </p:sp>
      <p:sp>
        <p:nvSpPr>
          <p:cNvPr id="427" name="Google Shape;427;p54"/>
          <p:cNvSpPr/>
          <p:nvPr/>
        </p:nvSpPr>
        <p:spPr>
          <a:xfrm>
            <a:off x="525200" y="3599000"/>
            <a:ext cx="1828800" cy="4395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/>
              <a:t>totally ~43% of the nominal voltage</a:t>
            </a:r>
            <a:endParaRPr sz="1000"/>
          </a:p>
        </p:txBody>
      </p:sp>
      <p:sp>
        <p:nvSpPr>
          <p:cNvPr id="428" name="Google Shape;42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Voltage Behaviour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5"/>
          <p:cNvSpPr txBox="1"/>
          <p:nvPr>
            <p:ph idx="1" type="body"/>
          </p:nvPr>
        </p:nvSpPr>
        <p:spPr>
          <a:xfrm>
            <a:off x="4572000" y="562000"/>
            <a:ext cx="4260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Safe guardband:</a:t>
            </a:r>
            <a:r>
              <a:rPr lang="tr"/>
              <a:t> ~33% of the nominal supply voltage can be eliminated without reliability issues. (</a:t>
            </a:r>
            <a:r>
              <a:rPr lang="tr">
                <a:solidFill>
                  <a:srgbClr val="76A5AF"/>
                </a:solidFill>
              </a:rPr>
              <a:t>850-570mV</a:t>
            </a:r>
            <a:r>
              <a:rPr lang="tr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/>
              <a:t>Added by </a:t>
            </a:r>
            <a:r>
              <a:rPr lang="tr"/>
              <a:t>manufacturers</a:t>
            </a:r>
            <a:r>
              <a:rPr lang="tr"/>
              <a:t> to ensure correct operation under worst-case environment.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rgbClr val="F1C232"/>
                </a:solidFill>
              </a:rPr>
              <a:t>Critical Region:</a:t>
            </a:r>
            <a:r>
              <a:rPr lang="tr">
                <a:solidFill>
                  <a:srgbClr val="F1C232"/>
                </a:solidFill>
              </a:rPr>
              <a:t> </a:t>
            </a:r>
            <a:r>
              <a:rPr lang="tr"/>
              <a:t>Supply voltage can be reduced further more to achieve an additional 43% power saving with reliability issues. (</a:t>
            </a:r>
            <a:r>
              <a:rPr lang="tr">
                <a:solidFill>
                  <a:srgbClr val="F1C232"/>
                </a:solidFill>
              </a:rPr>
              <a:t>570-540mV</a:t>
            </a:r>
            <a:r>
              <a:rPr lang="tr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CC0000"/>
                </a:solidFill>
              </a:rPr>
              <a:t>Crash Region:</a:t>
            </a:r>
            <a:r>
              <a:rPr lang="tr">
                <a:solidFill>
                  <a:srgbClr val="F1C232"/>
                </a:solidFill>
              </a:rPr>
              <a:t> </a:t>
            </a:r>
            <a:r>
              <a:rPr lang="tr"/>
              <a:t>The FPGA stops operating. (</a:t>
            </a:r>
            <a:r>
              <a:rPr lang="tr">
                <a:solidFill>
                  <a:srgbClr val="CC0000"/>
                </a:solidFill>
              </a:rPr>
              <a:t>below 540mV</a:t>
            </a:r>
            <a:r>
              <a:rPr lang="tr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267201" cy="335817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5"/>
          <p:cNvSpPr/>
          <p:nvPr/>
        </p:nvSpPr>
        <p:spPr>
          <a:xfrm>
            <a:off x="2354000" y="3599000"/>
            <a:ext cx="1883100" cy="4395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~33% of the nominal voltage</a:t>
            </a:r>
            <a:endParaRPr sz="1200"/>
          </a:p>
        </p:txBody>
      </p:sp>
      <p:sp>
        <p:nvSpPr>
          <p:cNvPr id="437" name="Google Shape;437;p55"/>
          <p:cNvSpPr/>
          <p:nvPr/>
        </p:nvSpPr>
        <p:spPr>
          <a:xfrm>
            <a:off x="525200" y="3599000"/>
            <a:ext cx="1828800" cy="4395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/>
              <a:t>totally ~43% of the nominal voltage</a:t>
            </a:r>
            <a:endParaRPr sz="1000"/>
          </a:p>
        </p:txBody>
      </p:sp>
      <p:sp>
        <p:nvSpPr>
          <p:cNvPr id="438" name="Google Shape;43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Power and Reliability Trade-off</a:t>
            </a:r>
            <a:endParaRPr/>
          </a:p>
        </p:txBody>
      </p:sp>
      <p:pic>
        <p:nvPicPr>
          <p:cNvPr id="444" name="Google Shape;44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52475"/>
            <a:ext cx="8520600" cy="17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tr"/>
              <a:t>Power and Reliability Trade-off</a:t>
            </a:r>
            <a:endParaRPr/>
          </a:p>
        </p:txBody>
      </p:sp>
      <p:sp>
        <p:nvSpPr>
          <p:cNvPr id="451" name="Google Shape;451;p57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Power efficiency:</a:t>
            </a:r>
            <a:r>
              <a:rPr lang="tr"/>
              <a:t> More than  </a:t>
            </a:r>
            <a:r>
              <a:rPr lang="tr"/>
              <a:t>3x GOPs/W power efficiency gain. </a:t>
            </a:r>
            <a:endParaRPr/>
          </a:p>
        </p:txBody>
      </p:sp>
      <p:pic>
        <p:nvPicPr>
          <p:cNvPr id="452" name="Google Shape;45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52475"/>
            <a:ext cx="8520600" cy="17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tr"/>
              <a:t>Power and Reliability Trade-off</a:t>
            </a:r>
            <a:endParaRPr/>
          </a:p>
        </p:txBody>
      </p:sp>
      <p:sp>
        <p:nvSpPr>
          <p:cNvPr id="459" name="Google Shape;459;p58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Power efficiency:</a:t>
            </a:r>
            <a:r>
              <a:rPr lang="tr"/>
              <a:t> More than  3x GOPs/W power efficiency gain.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2.6x GOPs/W is gained by eliminating guardband.</a:t>
            </a:r>
            <a:endParaRPr/>
          </a:p>
        </p:txBody>
      </p:sp>
      <p:pic>
        <p:nvPicPr>
          <p:cNvPr id="460" name="Google Shape;46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52475"/>
            <a:ext cx="8520600" cy="17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8"/>
          <p:cNvSpPr/>
          <p:nvPr/>
        </p:nvSpPr>
        <p:spPr>
          <a:xfrm>
            <a:off x="4572000" y="2158350"/>
            <a:ext cx="3431700" cy="3372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2.6x GOPs/W</a:t>
            </a:r>
            <a:endParaRPr sz="1200"/>
          </a:p>
        </p:txBody>
      </p:sp>
      <p:sp>
        <p:nvSpPr>
          <p:cNvPr id="462" name="Google Shape;46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tr"/>
              <a:t>Power and Reliability Trade-off</a:t>
            </a:r>
            <a:endParaRPr/>
          </a:p>
        </p:txBody>
      </p:sp>
      <p:sp>
        <p:nvSpPr>
          <p:cNvPr id="468" name="Google Shape;468;p59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Power efficiency:</a:t>
            </a:r>
            <a:r>
              <a:rPr lang="tr"/>
              <a:t> More than  3x GOPs/W power efficiency gain.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2.6x GOPs/W is gained by eliminating guardband.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Slight variation between workloads and FPGA platforms.</a:t>
            </a:r>
            <a:endParaRPr/>
          </a:p>
        </p:txBody>
      </p:sp>
      <p:pic>
        <p:nvPicPr>
          <p:cNvPr id="469" name="Google Shape;4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52475"/>
            <a:ext cx="8520600" cy="17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9"/>
          <p:cNvSpPr/>
          <p:nvPr/>
        </p:nvSpPr>
        <p:spPr>
          <a:xfrm>
            <a:off x="4572000" y="2158350"/>
            <a:ext cx="3431700" cy="3372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2.6x GOPs/W</a:t>
            </a:r>
            <a:endParaRPr sz="1200"/>
          </a:p>
        </p:txBody>
      </p:sp>
      <p:sp>
        <p:nvSpPr>
          <p:cNvPr id="471" name="Google Shape;47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tr"/>
              <a:t>Power and Reliability Trade-off</a:t>
            </a:r>
            <a:endParaRPr/>
          </a:p>
        </p:txBody>
      </p:sp>
      <p:pic>
        <p:nvPicPr>
          <p:cNvPr id="477" name="Google Shape;47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52475"/>
            <a:ext cx="8520600" cy="17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60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5B0F00"/>
                </a:solidFill>
              </a:rPr>
              <a:t>Reliability overhead</a:t>
            </a:r>
            <a:r>
              <a:rPr b="1" lang="tr">
                <a:solidFill>
                  <a:srgbClr val="5B0F00"/>
                </a:solidFill>
              </a:rPr>
              <a:t>:</a:t>
            </a:r>
            <a:r>
              <a:rPr lang="tr"/>
              <a:t> CNN accuracy loss occurs when undervolting in the critical voltage region.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tr"/>
              <a:t>Power and Reliability Trade-off</a:t>
            </a:r>
            <a:endParaRPr/>
          </a:p>
        </p:txBody>
      </p:sp>
      <p:pic>
        <p:nvPicPr>
          <p:cNvPr id="485" name="Google Shape;48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52475"/>
            <a:ext cx="8520600" cy="17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61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5B0F00"/>
                </a:solidFill>
              </a:rPr>
              <a:t>Reliability overhead:</a:t>
            </a:r>
            <a:r>
              <a:rPr lang="tr"/>
              <a:t> CNN accuracy loss occurs when undervolting in the critical voltage region.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Crucial accuracy collapse.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1"/>
          <p:cNvSpPr/>
          <p:nvPr/>
        </p:nvSpPr>
        <p:spPr>
          <a:xfrm>
            <a:off x="533400" y="2228450"/>
            <a:ext cx="4038600" cy="2511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Accuracy loss occurs</a:t>
            </a:r>
            <a:endParaRPr sz="1200"/>
          </a:p>
        </p:txBody>
      </p:sp>
      <p:sp>
        <p:nvSpPr>
          <p:cNvPr id="488" name="Google Shape;48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tr"/>
              <a:t>Power and Reliability Trade-off</a:t>
            </a:r>
            <a:endParaRPr/>
          </a:p>
        </p:txBody>
      </p:sp>
      <p:pic>
        <p:nvPicPr>
          <p:cNvPr id="494" name="Google Shape;49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52475"/>
            <a:ext cx="8520600" cy="17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2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5B0F00"/>
                </a:solidFill>
              </a:rPr>
              <a:t>Reliability overhead:</a:t>
            </a:r>
            <a:r>
              <a:rPr lang="tr"/>
              <a:t> CNN accuracy loss occurs when undervolting in the critical voltage region.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Crucial accuracy collapse.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Slight variation between workloads and FPGA platforms.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2"/>
          <p:cNvSpPr/>
          <p:nvPr/>
        </p:nvSpPr>
        <p:spPr>
          <a:xfrm>
            <a:off x="533400" y="2228450"/>
            <a:ext cx="4038600" cy="2511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Accuracy loss occurs</a:t>
            </a:r>
            <a:endParaRPr sz="1200"/>
          </a:p>
        </p:txBody>
      </p:sp>
      <p:sp>
        <p:nvSpPr>
          <p:cNvPr id="497" name="Google Shape;49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tr"/>
              <a:t>Power and Reliability Trade-off</a:t>
            </a:r>
            <a:endParaRPr/>
          </a:p>
        </p:txBody>
      </p:sp>
      <p:pic>
        <p:nvPicPr>
          <p:cNvPr id="503" name="Google Shape;50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52475"/>
            <a:ext cx="8520600" cy="17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3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5B0F00"/>
                </a:solidFill>
              </a:rPr>
              <a:t>Reliability overhead:</a:t>
            </a:r>
            <a:r>
              <a:rPr lang="tr"/>
              <a:t> CNN accuracy loss occurs when undervolting in the critical voltage region.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Crucial accuracy collapse.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Slight variation between workloads and FPGA platforms.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3"/>
          <p:cNvSpPr/>
          <p:nvPr/>
        </p:nvSpPr>
        <p:spPr>
          <a:xfrm>
            <a:off x="533400" y="2228450"/>
            <a:ext cx="4038600" cy="2511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Accuracy loss occurs</a:t>
            </a:r>
            <a:endParaRPr sz="1200"/>
          </a:p>
        </p:txBody>
      </p:sp>
      <p:sp>
        <p:nvSpPr>
          <p:cNvPr id="506" name="Google Shape;506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Frequency Underscaling</a:t>
            </a:r>
            <a:endParaRPr/>
          </a:p>
        </p:txBody>
      </p:sp>
      <p:pic>
        <p:nvPicPr>
          <p:cNvPr id="512" name="Google Shape;51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86850"/>
            <a:ext cx="8520600" cy="166122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3" name="Google Shape;513;p64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Frequency Underscaling</a:t>
            </a:r>
            <a:endParaRPr/>
          </a:p>
        </p:txBody>
      </p:sp>
      <p:pic>
        <p:nvPicPr>
          <p:cNvPr id="520" name="Google Shape;52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86850"/>
            <a:ext cx="8520600" cy="166122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1" name="Google Shape;521;p65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Find </a:t>
            </a:r>
            <a:r>
              <a:rPr lang="tr">
                <a:solidFill>
                  <a:srgbClr val="3C78D8"/>
                </a:solidFill>
              </a:rPr>
              <a:t>Fmax</a:t>
            </a:r>
            <a:r>
              <a:rPr lang="tr"/>
              <a:t> for the specified voltage that system runs with no accuracy loss.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Frequency Underscaling</a:t>
            </a:r>
            <a:endParaRPr/>
          </a:p>
        </p:txBody>
      </p:sp>
      <p:pic>
        <p:nvPicPr>
          <p:cNvPr id="528" name="Google Shape;52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86850"/>
            <a:ext cx="8520600" cy="166122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9" name="Google Shape;529;p66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Find </a:t>
            </a:r>
            <a:r>
              <a:rPr lang="tr">
                <a:solidFill>
                  <a:srgbClr val="3C78D8"/>
                </a:solidFill>
              </a:rPr>
              <a:t>Fmax</a:t>
            </a:r>
            <a:r>
              <a:rPr lang="tr"/>
              <a:t> for the specified voltage that system runs with no accuracy loss.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Reducing frequency keeps system </a:t>
            </a:r>
            <a:r>
              <a:rPr lang="tr">
                <a:solidFill>
                  <a:srgbClr val="3C78D8"/>
                </a:solidFill>
              </a:rPr>
              <a:t>reliable</a:t>
            </a:r>
            <a:r>
              <a:rPr lang="tr"/>
              <a:t> with the cost of performance and energy efficiency loss.</a:t>
            </a:r>
            <a:endParaRPr/>
          </a:p>
        </p:txBody>
      </p:sp>
      <p:sp>
        <p:nvSpPr>
          <p:cNvPr id="530" name="Google Shape;530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Frequency Underscaling</a:t>
            </a:r>
            <a:endParaRPr/>
          </a:p>
        </p:txBody>
      </p:sp>
      <p:pic>
        <p:nvPicPr>
          <p:cNvPr id="536" name="Google Shape;53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86850"/>
            <a:ext cx="8520600" cy="166122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7" name="Google Shape;537;p67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000000"/>
                </a:solidFill>
              </a:rPr>
              <a:t>Optimum setting for </a:t>
            </a:r>
            <a:r>
              <a:rPr lang="tr">
                <a:solidFill>
                  <a:schemeClr val="dk2"/>
                </a:solidFill>
              </a:rPr>
              <a:t>h</a:t>
            </a:r>
            <a:r>
              <a:rPr lang="tr">
                <a:solidFill>
                  <a:schemeClr val="dk2"/>
                </a:solidFill>
              </a:rPr>
              <a:t>igh performance</a:t>
            </a:r>
            <a:r>
              <a:rPr lang="tr">
                <a:solidFill>
                  <a:srgbClr val="000000"/>
                </a:solidFill>
              </a:rPr>
              <a:t> and </a:t>
            </a:r>
            <a:r>
              <a:rPr lang="tr">
                <a:solidFill>
                  <a:schemeClr val="dk2"/>
                </a:solidFill>
              </a:rPr>
              <a:t>high energy efficiency</a:t>
            </a:r>
            <a:r>
              <a:rPr lang="tr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67"/>
          <p:cNvSpPr/>
          <p:nvPr/>
        </p:nvSpPr>
        <p:spPr>
          <a:xfrm>
            <a:off x="393300" y="1795425"/>
            <a:ext cx="2902200" cy="265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Frequency Underscaling</a:t>
            </a:r>
            <a:endParaRPr/>
          </a:p>
        </p:txBody>
      </p:sp>
      <p:pic>
        <p:nvPicPr>
          <p:cNvPr id="545" name="Google Shape;54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86850"/>
            <a:ext cx="8520600" cy="166122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6" name="Google Shape;546;p68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000000"/>
                </a:solidFill>
              </a:rPr>
              <a:t>Optimum setting for </a:t>
            </a:r>
            <a:r>
              <a:rPr lang="tr">
                <a:solidFill>
                  <a:schemeClr val="dk2"/>
                </a:solidFill>
              </a:rPr>
              <a:t>high performance</a:t>
            </a:r>
            <a:r>
              <a:rPr lang="tr">
                <a:solidFill>
                  <a:srgbClr val="000000"/>
                </a:solidFill>
              </a:rPr>
              <a:t> and </a:t>
            </a:r>
            <a:r>
              <a:rPr lang="tr">
                <a:solidFill>
                  <a:schemeClr val="dk2"/>
                </a:solidFill>
              </a:rPr>
              <a:t>high energy efficiency</a:t>
            </a:r>
            <a:r>
              <a:rPr lang="tr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tr">
                <a:solidFill>
                  <a:srgbClr val="000000"/>
                </a:solidFill>
              </a:rPr>
              <a:t>GOPs and GOPs/J are maximized.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8"/>
          <p:cNvSpPr/>
          <p:nvPr/>
        </p:nvSpPr>
        <p:spPr>
          <a:xfrm>
            <a:off x="393300" y="1795425"/>
            <a:ext cx="2902200" cy="265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8"/>
          <p:cNvSpPr/>
          <p:nvPr/>
        </p:nvSpPr>
        <p:spPr>
          <a:xfrm>
            <a:off x="3483925" y="1759575"/>
            <a:ext cx="596400" cy="3372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9" name="Google Shape;549;p68"/>
          <p:cNvSpPr/>
          <p:nvPr/>
        </p:nvSpPr>
        <p:spPr>
          <a:xfrm>
            <a:off x="7598725" y="1759575"/>
            <a:ext cx="596400" cy="3372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0" name="Google Shape;550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Frequency Underscaling</a:t>
            </a:r>
            <a:endParaRPr/>
          </a:p>
        </p:txBody>
      </p:sp>
      <p:pic>
        <p:nvPicPr>
          <p:cNvPr id="556" name="Google Shape;55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86850"/>
            <a:ext cx="8520600" cy="166122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7" name="Google Shape;557;p69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Optimum setting for </a:t>
            </a:r>
            <a:r>
              <a:rPr lang="tr">
                <a:solidFill>
                  <a:srgbClr val="5B0F00"/>
                </a:solidFill>
              </a:rPr>
              <a:t>power efficiency</a:t>
            </a:r>
            <a:r>
              <a:rPr lang="tr"/>
              <a:t>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9"/>
          <p:cNvSpPr/>
          <p:nvPr/>
        </p:nvSpPr>
        <p:spPr>
          <a:xfrm>
            <a:off x="393300" y="2613600"/>
            <a:ext cx="2902200" cy="273900"/>
          </a:xfrm>
          <a:prstGeom prst="rect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Frequency Underscaling</a:t>
            </a:r>
            <a:endParaRPr/>
          </a:p>
        </p:txBody>
      </p:sp>
      <p:pic>
        <p:nvPicPr>
          <p:cNvPr id="565" name="Google Shape;56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00" y="1286850"/>
            <a:ext cx="8520600" cy="166122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6" name="Google Shape;566;p70"/>
          <p:cNvSpPr txBox="1"/>
          <p:nvPr>
            <p:ph idx="1" type="body"/>
          </p:nvPr>
        </p:nvSpPr>
        <p:spPr>
          <a:xfrm>
            <a:off x="393300" y="3090550"/>
            <a:ext cx="8520600" cy="147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Optimum setting for </a:t>
            </a:r>
            <a:r>
              <a:rPr lang="tr">
                <a:solidFill>
                  <a:srgbClr val="5B0F00"/>
                </a:solidFill>
              </a:rPr>
              <a:t>power efficiency</a:t>
            </a:r>
            <a:r>
              <a:rPr lang="tr"/>
              <a:t>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Power is minimized.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tr"/>
              <a:t>GOPs/W is maximized.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70"/>
          <p:cNvSpPr/>
          <p:nvPr/>
        </p:nvSpPr>
        <p:spPr>
          <a:xfrm>
            <a:off x="393300" y="2613600"/>
            <a:ext cx="2902200" cy="273900"/>
          </a:xfrm>
          <a:prstGeom prst="rect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70"/>
          <p:cNvSpPr/>
          <p:nvPr/>
        </p:nvSpPr>
        <p:spPr>
          <a:xfrm>
            <a:off x="4789800" y="2571750"/>
            <a:ext cx="596400" cy="337200"/>
          </a:xfrm>
          <a:prstGeom prst="ellipse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9" name="Google Shape;569;p70"/>
          <p:cNvSpPr/>
          <p:nvPr/>
        </p:nvSpPr>
        <p:spPr>
          <a:xfrm>
            <a:off x="6161400" y="2571750"/>
            <a:ext cx="596400" cy="337200"/>
          </a:xfrm>
          <a:prstGeom prst="ellipse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0" name="Google Shape;570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Related Works</a:t>
            </a:r>
            <a:endParaRPr/>
          </a:p>
        </p:txBody>
      </p:sp>
      <p:sp>
        <p:nvSpPr>
          <p:cNvPr id="576" name="Google Shape;576;p7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Undervolting </a:t>
            </a:r>
            <a:r>
              <a:rPr lang="tr">
                <a:solidFill>
                  <a:srgbClr val="000000"/>
                </a:solidFill>
              </a:rPr>
              <a:t>studies for the off-the-shelf CPUs, GPUs,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tr">
                <a:solidFill>
                  <a:srgbClr val="000000"/>
                </a:solidFill>
              </a:rPr>
              <a:t>ASICs (GreenTPU-DAC19’), DRAMs (EDEN-MICRO19’).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tr">
                <a:solidFill>
                  <a:srgbClr val="000000"/>
                </a:solidFill>
              </a:rPr>
              <a:t>Large guardbands are common and vary from 12%-35% off the nominal supply voltage.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Power efficient </a:t>
            </a:r>
            <a:r>
              <a:rPr lang="tr"/>
              <a:t>neural network studies with architectural, Hardware, Software techniques.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76A5AF"/>
                </a:solidFill>
              </a:rPr>
              <a:t>Reliable </a:t>
            </a:r>
            <a:r>
              <a:rPr lang="tr"/>
              <a:t>neural network studies with analytical(Thundervolt-DAC18’) and simulation based techniques.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583" name="Google Shape;583;p72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84" name="Google Shape;584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590" name="Google Shape;590;p73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Summary:</a:t>
            </a:r>
            <a:endParaRPr sz="15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Our study </a:t>
            </a:r>
            <a:r>
              <a:rPr lang="tr" sz="1500">
                <a:solidFill>
                  <a:srgbClr val="5B0F00"/>
                </a:solidFill>
              </a:rPr>
              <a:t>confirms</a:t>
            </a:r>
            <a:r>
              <a:rPr lang="tr" sz="1500"/>
              <a:t> the existence of </a:t>
            </a:r>
            <a:r>
              <a:rPr lang="tr" sz="1500">
                <a:solidFill>
                  <a:schemeClr val="dk2"/>
                </a:solidFill>
              </a:rPr>
              <a:t>large guardbands</a:t>
            </a:r>
            <a:r>
              <a:rPr lang="tr" sz="1500"/>
              <a:t> for FPGAs.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91" name="Google Shape;591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597" name="Google Shape;597;p74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Summary:</a:t>
            </a:r>
            <a:endParaRPr sz="15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Our study </a:t>
            </a:r>
            <a:r>
              <a:rPr lang="tr" sz="1500">
                <a:solidFill>
                  <a:srgbClr val="5B0F00"/>
                </a:solidFill>
              </a:rPr>
              <a:t>confirms</a:t>
            </a:r>
            <a:r>
              <a:rPr lang="tr" sz="1500"/>
              <a:t> the existence of </a:t>
            </a:r>
            <a:r>
              <a:rPr lang="tr" sz="1500">
                <a:solidFill>
                  <a:schemeClr val="dk2"/>
                </a:solidFill>
              </a:rPr>
              <a:t>large guardbands</a:t>
            </a:r>
            <a:r>
              <a:rPr lang="tr" sz="1500"/>
              <a:t> for FPGAs.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We propose a hardware level technique that enables </a:t>
            </a:r>
            <a:r>
              <a:rPr lang="tr" sz="1500">
                <a:solidFill>
                  <a:schemeClr val="dk2"/>
                </a:solidFill>
              </a:rPr>
              <a:t>more than 3x power efficiency</a:t>
            </a:r>
            <a:r>
              <a:rPr lang="tr" sz="1500"/>
              <a:t>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98" name="Google Shape;59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604" name="Google Shape;604;p75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Summary:</a:t>
            </a:r>
            <a:endParaRPr sz="15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Our study </a:t>
            </a:r>
            <a:r>
              <a:rPr lang="tr" sz="1500">
                <a:solidFill>
                  <a:srgbClr val="5B0F00"/>
                </a:solidFill>
              </a:rPr>
              <a:t>confirms</a:t>
            </a:r>
            <a:r>
              <a:rPr lang="tr" sz="1500"/>
              <a:t> the existence of </a:t>
            </a:r>
            <a:r>
              <a:rPr lang="tr" sz="1500">
                <a:solidFill>
                  <a:schemeClr val="dk2"/>
                </a:solidFill>
              </a:rPr>
              <a:t>large guardbands</a:t>
            </a:r>
            <a:r>
              <a:rPr lang="tr" sz="1500"/>
              <a:t> for FPGAs.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We propose a hardware level technique that enables </a:t>
            </a:r>
            <a:r>
              <a:rPr lang="tr" sz="1500">
                <a:solidFill>
                  <a:schemeClr val="dk2"/>
                </a:solidFill>
              </a:rPr>
              <a:t>more than 3x power efficiency</a:t>
            </a:r>
            <a:r>
              <a:rPr lang="tr" sz="1500"/>
              <a:t>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E06666"/>
                </a:solidFill>
              </a:rPr>
              <a:t>2.6x</a:t>
            </a:r>
            <a:r>
              <a:rPr lang="tr" sz="1500"/>
              <a:t> power saving from eliminating guardband. (</a:t>
            </a:r>
            <a:r>
              <a:rPr lang="tr" sz="1500">
                <a:solidFill>
                  <a:schemeClr val="dk2"/>
                </a:solidFill>
              </a:rPr>
              <a:t>without accuracy loss</a:t>
            </a:r>
            <a:r>
              <a:rPr lang="tr" sz="1500"/>
              <a:t>)</a:t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05" name="Google Shape;605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611" name="Google Shape;611;p76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Summary:</a:t>
            </a:r>
            <a:endParaRPr sz="15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Our study </a:t>
            </a:r>
            <a:r>
              <a:rPr lang="tr" sz="1500">
                <a:solidFill>
                  <a:srgbClr val="5B0F00"/>
                </a:solidFill>
              </a:rPr>
              <a:t>confirms</a:t>
            </a:r>
            <a:r>
              <a:rPr lang="tr" sz="1500"/>
              <a:t> the existence of </a:t>
            </a:r>
            <a:r>
              <a:rPr lang="tr" sz="1500">
                <a:solidFill>
                  <a:schemeClr val="dk2"/>
                </a:solidFill>
              </a:rPr>
              <a:t>large guardbands</a:t>
            </a:r>
            <a:r>
              <a:rPr lang="tr" sz="1500"/>
              <a:t> for FPGAs.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We propose a hardware level technique that enables </a:t>
            </a:r>
            <a:r>
              <a:rPr lang="tr" sz="1500">
                <a:solidFill>
                  <a:schemeClr val="dk2"/>
                </a:solidFill>
              </a:rPr>
              <a:t>more than 3x power efficiency</a:t>
            </a:r>
            <a:r>
              <a:rPr lang="tr" sz="1500"/>
              <a:t>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E06666"/>
                </a:solidFill>
              </a:rPr>
              <a:t>2.6x</a:t>
            </a:r>
            <a:r>
              <a:rPr lang="tr" sz="1500"/>
              <a:t> power saving from eliminating guardband. (</a:t>
            </a:r>
            <a:r>
              <a:rPr lang="tr" sz="1500">
                <a:solidFill>
                  <a:schemeClr val="dk2"/>
                </a:solidFill>
              </a:rPr>
              <a:t>without accuracy loss</a:t>
            </a:r>
            <a:r>
              <a:rPr lang="tr" sz="1500"/>
              <a:t>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/>
              <a:t>Further power savings are possible </a:t>
            </a:r>
            <a:r>
              <a:rPr lang="tr" sz="1500">
                <a:solidFill>
                  <a:schemeClr val="dk2"/>
                </a:solidFill>
              </a:rPr>
              <a:t>with the cost of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12" name="Google Shape;612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618" name="Google Shape;618;p77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Summary:</a:t>
            </a:r>
            <a:endParaRPr sz="1500" u="sng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Our study </a:t>
            </a:r>
            <a:r>
              <a:rPr lang="tr" sz="1500">
                <a:solidFill>
                  <a:srgbClr val="5B0F00"/>
                </a:solidFill>
              </a:rPr>
              <a:t>confirms</a:t>
            </a:r>
            <a:r>
              <a:rPr lang="tr" sz="1500"/>
              <a:t> the existence of </a:t>
            </a:r>
            <a:r>
              <a:rPr lang="tr" sz="1500">
                <a:solidFill>
                  <a:schemeClr val="dk2"/>
                </a:solidFill>
              </a:rPr>
              <a:t>large guardbands</a:t>
            </a:r>
            <a:r>
              <a:rPr lang="tr" sz="1500"/>
              <a:t> for FPGAs.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We propose a hardware level technique that enables </a:t>
            </a:r>
            <a:r>
              <a:rPr lang="tr" sz="1500">
                <a:solidFill>
                  <a:schemeClr val="dk2"/>
                </a:solidFill>
              </a:rPr>
              <a:t>more than 3x power efficiency</a:t>
            </a:r>
            <a:r>
              <a:rPr lang="tr" sz="1500"/>
              <a:t>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E06666"/>
                </a:solidFill>
              </a:rPr>
              <a:t>2.6x</a:t>
            </a:r>
            <a:r>
              <a:rPr lang="tr" sz="1500"/>
              <a:t> power saving from eliminating guardband. (</a:t>
            </a:r>
            <a:r>
              <a:rPr lang="tr" sz="1500">
                <a:solidFill>
                  <a:schemeClr val="dk2"/>
                </a:solidFill>
              </a:rPr>
              <a:t>without accuracy loss</a:t>
            </a:r>
            <a:r>
              <a:rPr lang="tr" sz="1500"/>
              <a:t>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/>
              <a:t>Further power savings are possible </a:t>
            </a:r>
            <a:r>
              <a:rPr lang="tr" sz="1500">
                <a:solidFill>
                  <a:schemeClr val="dk2"/>
                </a:solidFill>
              </a:rPr>
              <a:t>with the cost of</a:t>
            </a:r>
            <a:endParaRPr sz="1500">
              <a:solidFill>
                <a:schemeClr val="dk2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5B0F00"/>
                </a:solidFill>
              </a:rPr>
              <a:t>Accuracy loss</a:t>
            </a:r>
            <a:r>
              <a:rPr lang="tr" sz="1500">
                <a:solidFill>
                  <a:srgbClr val="000000"/>
                </a:solidFill>
              </a:rPr>
              <a:t>.</a:t>
            </a:r>
            <a:r>
              <a:rPr lang="tr" sz="1500"/>
              <a:t> (frequency is not underscaled)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19" name="Google Shape;619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625" name="Google Shape;625;p78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Summary:</a:t>
            </a:r>
            <a:endParaRPr sz="1500" u="sng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Our study </a:t>
            </a:r>
            <a:r>
              <a:rPr lang="tr" sz="1500">
                <a:solidFill>
                  <a:srgbClr val="5B0F00"/>
                </a:solidFill>
              </a:rPr>
              <a:t>confirms</a:t>
            </a:r>
            <a:r>
              <a:rPr lang="tr" sz="1500"/>
              <a:t> the existence of </a:t>
            </a:r>
            <a:r>
              <a:rPr lang="tr" sz="1500">
                <a:solidFill>
                  <a:schemeClr val="dk2"/>
                </a:solidFill>
              </a:rPr>
              <a:t>large guardbands</a:t>
            </a:r>
            <a:r>
              <a:rPr lang="tr" sz="1500"/>
              <a:t> for FPGAs.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We propose a hardware level technique that enables </a:t>
            </a:r>
            <a:r>
              <a:rPr lang="tr" sz="1500">
                <a:solidFill>
                  <a:schemeClr val="dk2"/>
                </a:solidFill>
              </a:rPr>
              <a:t>more than 3x power efficiency</a:t>
            </a:r>
            <a:r>
              <a:rPr lang="tr" sz="1500"/>
              <a:t>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E06666"/>
                </a:solidFill>
              </a:rPr>
              <a:t>2.6x</a:t>
            </a:r>
            <a:r>
              <a:rPr lang="tr" sz="1500"/>
              <a:t> power saving from eliminating guardband. (</a:t>
            </a:r>
            <a:r>
              <a:rPr lang="tr" sz="1500">
                <a:solidFill>
                  <a:schemeClr val="dk2"/>
                </a:solidFill>
              </a:rPr>
              <a:t>without accuracy loss</a:t>
            </a:r>
            <a:r>
              <a:rPr lang="tr" sz="1500"/>
              <a:t>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/>
              <a:t>Further power savings are possible </a:t>
            </a:r>
            <a:r>
              <a:rPr lang="tr" sz="1500">
                <a:solidFill>
                  <a:schemeClr val="dk2"/>
                </a:solidFill>
              </a:rPr>
              <a:t>with the cost of</a:t>
            </a:r>
            <a:endParaRPr sz="1500">
              <a:solidFill>
                <a:schemeClr val="dk2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5B0F00"/>
                </a:solidFill>
              </a:rPr>
              <a:t>Accuracy loss</a:t>
            </a:r>
            <a:r>
              <a:rPr lang="tr" sz="1500">
                <a:solidFill>
                  <a:srgbClr val="000000"/>
                </a:solidFill>
              </a:rPr>
              <a:t>.</a:t>
            </a:r>
            <a:r>
              <a:rPr lang="tr" sz="1500"/>
              <a:t> (frequency is not underscaled)</a:t>
            </a:r>
            <a:endParaRPr sz="15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5B0F00"/>
                </a:solidFill>
              </a:rPr>
              <a:t>Performance loss</a:t>
            </a:r>
            <a:r>
              <a:rPr lang="tr" sz="1500">
                <a:solidFill>
                  <a:srgbClr val="000000"/>
                </a:solidFill>
              </a:rPr>
              <a:t>.</a:t>
            </a:r>
            <a:r>
              <a:rPr lang="tr" sz="1500"/>
              <a:t> (frequency is underscaled)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26" name="Google Shape;626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632" name="Google Shape;632;p79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Summary:</a:t>
            </a:r>
            <a:endParaRPr sz="1500" u="sng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Our study </a:t>
            </a:r>
            <a:r>
              <a:rPr lang="tr" sz="1500">
                <a:solidFill>
                  <a:srgbClr val="5B0F00"/>
                </a:solidFill>
              </a:rPr>
              <a:t>confirms</a:t>
            </a:r>
            <a:r>
              <a:rPr lang="tr" sz="1500"/>
              <a:t> the existence of </a:t>
            </a:r>
            <a:r>
              <a:rPr lang="tr" sz="1500">
                <a:solidFill>
                  <a:schemeClr val="dk2"/>
                </a:solidFill>
              </a:rPr>
              <a:t>large guardbands</a:t>
            </a:r>
            <a:r>
              <a:rPr lang="tr" sz="1500"/>
              <a:t> for FPGAs.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We propose a hardware level technique that enables </a:t>
            </a:r>
            <a:r>
              <a:rPr lang="tr" sz="1500">
                <a:solidFill>
                  <a:schemeClr val="dk2"/>
                </a:solidFill>
              </a:rPr>
              <a:t>more than 3x power efficiency</a:t>
            </a:r>
            <a:r>
              <a:rPr lang="tr" sz="1500"/>
              <a:t>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E06666"/>
                </a:solidFill>
              </a:rPr>
              <a:t>2.6x</a:t>
            </a:r>
            <a:r>
              <a:rPr lang="tr" sz="1500"/>
              <a:t> power saving from eliminating guardband. (</a:t>
            </a:r>
            <a:r>
              <a:rPr lang="tr" sz="1500">
                <a:solidFill>
                  <a:schemeClr val="dk2"/>
                </a:solidFill>
              </a:rPr>
              <a:t>without accuracy loss</a:t>
            </a:r>
            <a:r>
              <a:rPr lang="tr" sz="1500"/>
              <a:t>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/>
              <a:t>Further power savings are possible </a:t>
            </a:r>
            <a:r>
              <a:rPr lang="tr" sz="1500">
                <a:solidFill>
                  <a:schemeClr val="dk2"/>
                </a:solidFill>
              </a:rPr>
              <a:t>with the cost of</a:t>
            </a:r>
            <a:endParaRPr sz="1500">
              <a:solidFill>
                <a:schemeClr val="dk2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5B0F00"/>
                </a:solidFill>
              </a:rPr>
              <a:t>Accuracy loss</a:t>
            </a:r>
            <a:r>
              <a:rPr lang="tr" sz="1500">
                <a:solidFill>
                  <a:srgbClr val="000000"/>
                </a:solidFill>
              </a:rPr>
              <a:t>.</a:t>
            </a:r>
            <a:r>
              <a:rPr lang="tr" sz="1500"/>
              <a:t> (frequency is not underscaled)</a:t>
            </a:r>
            <a:endParaRPr sz="15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5B0F00"/>
                </a:solidFill>
              </a:rPr>
              <a:t>Performance loss</a:t>
            </a:r>
            <a:r>
              <a:rPr lang="tr" sz="1500">
                <a:solidFill>
                  <a:srgbClr val="000000"/>
                </a:solidFill>
              </a:rPr>
              <a:t>.</a:t>
            </a:r>
            <a:r>
              <a:rPr lang="tr" sz="1500"/>
              <a:t> (frequency is underscaled)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Conclusion:</a:t>
            </a:r>
            <a:endParaRPr sz="15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3" name="Google Shape;633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Summary and Conclusion</a:t>
            </a:r>
            <a:endParaRPr/>
          </a:p>
        </p:txBody>
      </p:sp>
      <p:sp>
        <p:nvSpPr>
          <p:cNvPr id="639" name="Google Shape;639;p80"/>
          <p:cNvSpPr txBox="1"/>
          <p:nvPr>
            <p:ph idx="1" type="body"/>
          </p:nvPr>
        </p:nvSpPr>
        <p:spPr>
          <a:xfrm>
            <a:off x="311700" y="1171600"/>
            <a:ext cx="8520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Summary:</a:t>
            </a:r>
            <a:endParaRPr sz="1500" u="sng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Our study </a:t>
            </a:r>
            <a:r>
              <a:rPr lang="tr" sz="1500">
                <a:solidFill>
                  <a:srgbClr val="5B0F00"/>
                </a:solidFill>
              </a:rPr>
              <a:t>confirms</a:t>
            </a:r>
            <a:r>
              <a:rPr lang="tr" sz="1500"/>
              <a:t> the existence of </a:t>
            </a:r>
            <a:r>
              <a:rPr lang="tr" sz="1500">
                <a:solidFill>
                  <a:schemeClr val="dk2"/>
                </a:solidFill>
              </a:rPr>
              <a:t>large guardbands</a:t>
            </a:r>
            <a:r>
              <a:rPr lang="tr" sz="1500"/>
              <a:t> for FPGAs.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/>
              <a:t>We propose a hardware level technique that enables </a:t>
            </a:r>
            <a:r>
              <a:rPr lang="tr" sz="1500">
                <a:solidFill>
                  <a:schemeClr val="dk2"/>
                </a:solidFill>
              </a:rPr>
              <a:t>more than 3x power efficiency</a:t>
            </a:r>
            <a:r>
              <a:rPr lang="tr" sz="1500"/>
              <a:t>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E06666"/>
                </a:solidFill>
              </a:rPr>
              <a:t>2.6x</a:t>
            </a:r>
            <a:r>
              <a:rPr lang="tr" sz="1500"/>
              <a:t> power saving from eliminating guardband. (</a:t>
            </a:r>
            <a:r>
              <a:rPr lang="tr" sz="1500">
                <a:solidFill>
                  <a:schemeClr val="dk2"/>
                </a:solidFill>
              </a:rPr>
              <a:t>without accuracy loss</a:t>
            </a:r>
            <a:r>
              <a:rPr lang="tr" sz="1500"/>
              <a:t>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/>
              <a:t>Further power savings are possible </a:t>
            </a:r>
            <a:r>
              <a:rPr lang="tr" sz="1500">
                <a:solidFill>
                  <a:schemeClr val="dk2"/>
                </a:solidFill>
              </a:rPr>
              <a:t>with the cost of</a:t>
            </a:r>
            <a:endParaRPr sz="1500">
              <a:solidFill>
                <a:schemeClr val="dk2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5B0F00"/>
                </a:solidFill>
              </a:rPr>
              <a:t>Accuracy loss</a:t>
            </a:r>
            <a:r>
              <a:rPr lang="tr" sz="1500">
                <a:solidFill>
                  <a:srgbClr val="000000"/>
                </a:solidFill>
              </a:rPr>
              <a:t>.</a:t>
            </a:r>
            <a:r>
              <a:rPr lang="tr" sz="1500"/>
              <a:t> (frequency is not underscaled)</a:t>
            </a:r>
            <a:endParaRPr sz="15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tr" sz="1500">
                <a:solidFill>
                  <a:srgbClr val="5B0F00"/>
                </a:solidFill>
              </a:rPr>
              <a:t>Performance loss</a:t>
            </a:r>
            <a:r>
              <a:rPr lang="tr" sz="1500">
                <a:solidFill>
                  <a:srgbClr val="000000"/>
                </a:solidFill>
              </a:rPr>
              <a:t>.</a:t>
            </a:r>
            <a:r>
              <a:rPr lang="tr" sz="1500"/>
              <a:t> (frequency is underscaled)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 u="sng">
                <a:solidFill>
                  <a:srgbClr val="3C78D8"/>
                </a:solidFill>
              </a:rPr>
              <a:t>Conclusion:</a:t>
            </a:r>
            <a:endParaRPr sz="15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tr" sz="1500">
                <a:solidFill>
                  <a:schemeClr val="dk2"/>
                </a:solidFill>
              </a:rPr>
              <a:t>Undervolting</a:t>
            </a:r>
            <a:r>
              <a:rPr lang="tr" sz="1500"/>
              <a:t> is a promising technique to achieve </a:t>
            </a:r>
            <a:r>
              <a:rPr lang="tr" sz="1500">
                <a:solidFill>
                  <a:schemeClr val="dk2"/>
                </a:solidFill>
              </a:rPr>
              <a:t>significant power saving</a:t>
            </a:r>
            <a:r>
              <a:rPr lang="tr" sz="1500"/>
              <a:t> for FPGA based neural network accelerators.</a:t>
            </a:r>
            <a:endParaRPr sz="15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40" name="Google Shape;640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1"/>
          <p:cNvSpPr txBox="1"/>
          <p:nvPr>
            <p:ph type="title"/>
          </p:nvPr>
        </p:nvSpPr>
        <p:spPr>
          <a:xfrm>
            <a:off x="311700" y="22651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Q &amp; A</a:t>
            </a:r>
            <a:endParaRPr/>
          </a:p>
        </p:txBody>
      </p:sp>
      <p:sp>
        <p:nvSpPr>
          <p:cNvPr id="646" name="Google Shape;646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2"/>
          <p:cNvSpPr txBox="1"/>
          <p:nvPr>
            <p:ph type="ctrTitle"/>
          </p:nvPr>
        </p:nvSpPr>
        <p:spPr>
          <a:xfrm>
            <a:off x="502050" y="1893300"/>
            <a:ext cx="8118600" cy="83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Özkütle Deneyi</a:t>
            </a:r>
            <a:endParaRPr/>
          </a:p>
        </p:txBody>
      </p:sp>
      <p:sp>
        <p:nvSpPr>
          <p:cNvPr id="652" name="Google Shape;652;p82"/>
          <p:cNvSpPr txBox="1"/>
          <p:nvPr>
            <p:ph idx="1" type="subTitle"/>
          </p:nvPr>
        </p:nvSpPr>
        <p:spPr>
          <a:xfrm>
            <a:off x="547650" y="1943350"/>
            <a:ext cx="27855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rgbClr val="000000"/>
                </a:solidFill>
              </a:rPr>
              <a:t>Erhan Baturay Onural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</a:rPr>
              <a:t>TOBB ETU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53" name="Google Shape;653;p82"/>
          <p:cNvSpPr txBox="1"/>
          <p:nvPr/>
        </p:nvSpPr>
        <p:spPr>
          <a:xfrm>
            <a:off x="533625" y="370575"/>
            <a:ext cx="81156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300">
                <a:solidFill>
                  <a:srgbClr val="FFFBF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Demonstrating Reduced-Voltage FPGA-Based Neural Network Acceleration for Power-Efficiency</a:t>
            </a:r>
            <a:endParaRPr sz="2300">
              <a:solidFill>
                <a:srgbClr val="FFFBF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54" name="Google Shape;654;p82"/>
          <p:cNvSpPr txBox="1"/>
          <p:nvPr>
            <p:ph idx="1" type="subTitle"/>
          </p:nvPr>
        </p:nvSpPr>
        <p:spPr>
          <a:xfrm>
            <a:off x="3508750" y="1943350"/>
            <a:ext cx="25908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rgbClr val="000000"/>
                </a:solidFill>
              </a:rPr>
              <a:t>Ismail Emir Yuksel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solidFill>
                  <a:schemeClr val="dk1"/>
                </a:solidFill>
              </a:rPr>
              <a:t>TOBB ETU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55" name="Google Shape;655;p82"/>
          <p:cNvSpPr txBox="1"/>
          <p:nvPr>
            <p:ph idx="1" type="subTitle"/>
          </p:nvPr>
        </p:nvSpPr>
        <p:spPr>
          <a:xfrm>
            <a:off x="6363075" y="1943350"/>
            <a:ext cx="21240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000">
                <a:solidFill>
                  <a:srgbClr val="000000"/>
                </a:solidFill>
              </a:rPr>
              <a:t>Behzad Salami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solidFill>
                  <a:schemeClr val="dk1"/>
                </a:solidFill>
              </a:rPr>
              <a:t>BSC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656" name="Google Shape;65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288" y="2850100"/>
            <a:ext cx="2093251" cy="147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3888" y="3358725"/>
            <a:ext cx="1731100" cy="4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82"/>
          <p:cNvSpPr txBox="1"/>
          <p:nvPr/>
        </p:nvSpPr>
        <p:spPr>
          <a:xfrm>
            <a:off x="355750" y="4098225"/>
            <a:ext cx="8538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latin typeface="Old Standard TT"/>
                <a:ea typeface="Old Standard TT"/>
                <a:cs typeface="Old Standard TT"/>
                <a:sym typeface="Old Standard TT"/>
              </a:rPr>
              <a:t>Main Paper: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Old Standard TT"/>
                <a:ea typeface="Old Standard TT"/>
                <a:cs typeface="Old Standard TT"/>
                <a:sym typeface="Old Standard TT"/>
              </a:rPr>
              <a:t>https://www.researchgate.net/publication/343353269_An_Experimental_Study_of_Reduced-Voltage_Operation_in_Modern_FPGAs_for_Neural_Network_Acceleration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59" name="Google Shape;659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5400" y="3278875"/>
            <a:ext cx="1282518" cy="4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